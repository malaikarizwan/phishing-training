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session. Mention this presentation is submitted as Task 2 of the CodeAlpha Cyber Security Internship, focused on Phishing Awareness Training. State the goal clearly: by the end of this session, the audience will be able to recognize phishing emails and fake websites, understand the psychological tricks attackers use, and apply simple prevention habits. Briefly outline the agenda: definition, attack mechanics, types of phishing, red flags, fake website detection, social engineering, prevention, a short quiz, and a closing summary. Keep the tone practical and example-driven rather than purely theoretical.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phishing clearly: a social engineering attack where the criminal impersonates someone trustworthy to manipulate the victim. Emphasize that phishing exploits human psychology, not just technical weaknesses — this is why awareness training (like this very presentation) is one of the most effective defenses. Explain the fishing analogy: bait, hook, catch. List the typical goals attackers pursue — credentials, financial data, identity theft, and malware delivery. Mention that because phishing is so commonly the first step in larger breaches, recognizing it early can stop an entire attack chain before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five-stage attack lifecycle from the attacker's perspective. Stage 1: reconnaissance — attackers often use public information like LinkedIn profiles or company press releases to personalize their attack. Stage 2: they build a convincing fake message or site, frequently copying real logos and formatting. Stage 3: delivery happens at scale (email blasts) or in a highly targeted way (a single spear-phishing email). Stage 4 is the critical moment — the 'hook' — where one click or one entered password hands control to the attacker. Stage 5 is exploitation: money is moved, accounts are taken over, or the access is used to pivot deeper into a network. Stress that breaking the chain at Stage 4 (refusing to click or enter data) stops the entire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phishing is not one single technique but a family of related attacks that share the same goal: deception for information or access. Email phishing is the broadest and least personalized — a numbers game. Spear phishing trades scale for precision, often researching the victim's job role or recent activity. Smishing and vishing move the attack off email entirely, onto phones, where people tend to be less suspicious. Clone phishing is dangerous because it reuses a real email the victim already trusts, just with the payload swapped. Whaling specifically targets executives because their authority can authorize large wire transfers or access sensitive systems — a single successful whaling email can be extremely costly for an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trains the eye to spot red flags. Go through the checklist quickly, then spend most of the time on the sample email on the right — it is a fictional but realistic illustration combining the most common red flags: a sender domain that looks plausible but is subtly wrong (securebank-alerts.com instead of the real bank domain), a generic greeting, manufactured urgency with a 24-hour deadline, a threatening consequence (permanent account closure), and a call-to-action button that hides the real destination URL. Encourage the audience to always hover over links and check sender domains carefully before reacting to urgent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browser-bar examples side by side. The legitimate example shows a clean, correctly spelled domain with a valid HTTPS padlock. The fake example, secure-bank-login.net, demonstrates a classic typosquatting technique — inserting extra words and hyphens into a domain that still looks plausible at a glance. Make the point explicitly that HTTPS and a padlock icon only mean the connection is encrypted, NOT that the site is trustworthy — attackers can and do obtain valid certificates for fake domains. Walk through the verification checklist at the bottom, emphasizing manual URL typing and hovering over links as the two cheapest, most effective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the focus from technology to psychology. Phishing is fundamentally a con — it works because it exploits normal, predictable human reactions. Urgency and fear short-circuit careful evaluation by triggering a stress response. Authority works because most people are conditioned to comply with perceived bosses, banks, or officials without question. Curiosity exploits our natural desire to know more (prize notifications, gossip, intriguing attachments). Trust and familiarity are especially dangerous in 'business email compromise' scenarios where an attacker impersonates a real colleague. Pretexting is the umbrella technique of inventing a believable story — like posing as IT support needing a password reset — to justify the request. Tell the audience: if a message makes you feel rushed, scared, or overly curious, slow down — that feeling itself is often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actionable slide — spend extra time here. Multi-Factor Authentication deserves special emphasis: even if a password is stolen through phishing, MFA can still stop the attacker from logging in. Reinforce that legitimate organizations will never ask for a password or one-time code over email or phone — this single rule defeats a huge share of phishing and vishing attempts. Encourage a habit of independently verifying any urgent request, especially ones involving money or credentials, through a separately confirmed contact method. Close by noting that prevention is layered: no single habit is perfect, but combining several (MFA, verification, updated software, reporting) creates strong overall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this as a live, interactive discussion rather than reading answers aloud immediately. Ask for a show of hands or verbal answers for each question before confirming the correct choice. Answer key for this slide: Q1 = B (steal sensitive personal or financial data); Q2 = B (urgent threats with a tight deadline); Q3 = B (phishing through SMS text messages); Q4 = B (Multi-Factor Authentication). For Q4, take a moment to explain WHY MFA is the strongest single answer — it adds a barrier that a stolen password alone cannot pass. Two additional questions and the full scoring rubric are documented in the internship report's Quiz Section for anyone who wants extra practice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that phishing defense is mostly about habits, not tools alone. Recap the four key takeaways: pause before reacting to emotional pressure, independently verify senders and links, rely on layered protections like MFA, and report suspicious activity instead of staying silent. Thank the audience for their attention and invite questions. If presenting this as part of the CodeAlpha internship submission, mention that this presentation, the accompanying internship report, and the README documentation together form the complete submission for Task 2: Phishing Awareness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image" Target="../media/image-3-8.png"/><Relationship Id="rId9" Type="http://schemas.openxmlformats.org/officeDocument/2006/relationships/image" Target="../media/image-3-3.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2.png"/><Relationship Id="rId8" Type="http://schemas.openxmlformats.org/officeDocument/2006/relationships/image" Target="../media/image-5-2.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2.png"/><Relationship Id="rId6" Type="http://schemas.openxmlformats.org/officeDocument/2006/relationships/image" Target="../media/image-6-2.png"/><Relationship Id="rId7" Type="http://schemas.openxmlformats.org/officeDocument/2006/relationships/image" Target="../media/image-6-2.png"/><Relationship Id="rId8" Type="http://schemas.openxmlformats.org/officeDocument/2006/relationships/image" Target="../media/image-6-2.png"/><Relationship Id="rId9" Type="http://schemas.openxmlformats.org/officeDocument/2006/relationships/image" Target="../media/image-6-2.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1.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pic>
        <p:nvPicPr>
          <p:cNvPr id="2" name="Image 0" descr="icons/shield_navy.png">    </p:cNvPr>
          <p:cNvPicPr>
            <a:picLocks noChangeAspect="1"/>
          </p:cNvPicPr>
          <p:nvPr/>
        </p:nvPicPr>
        <p:blipFill>
          <a:blip r:embed="rId1">
            <a:alphaModFix amt="22000"/>
          </a:blip>
          <a:stretch>
            <a:fillRect/>
          </a:stretch>
        </p:blipFill>
        <p:spPr>
          <a:xfrm>
            <a:off x="8503920" y="914400"/>
            <a:ext cx="4206240" cy="4206240"/>
          </a:xfrm>
          <a:prstGeom prst="rect">
            <a:avLst/>
          </a:prstGeom>
        </p:spPr>
      </p:pic>
      <p:sp>
        <p:nvSpPr>
          <p:cNvPr id="3" name="Shape 0"/>
          <p:cNvSpPr/>
          <p:nvPr/>
        </p:nvSpPr>
        <p:spPr>
          <a:xfrm>
            <a:off x="8732520" y="1417320"/>
            <a:ext cx="3200400" cy="3200400"/>
          </a:xfrm>
          <a:prstGeom prst="ellipse">
            <a:avLst/>
          </a:prstGeom>
          <a:ln w="19050">
            <a:solidFill>
              <a:srgbClr val="1FA39A">
                <a:alpha val="65000"/>
              </a:srgbClr>
            </a:solidFill>
            <a:prstDash val="solid"/>
          </a:ln>
        </p:spPr>
      </p:sp>
      <p:sp>
        <p:nvSpPr>
          <p:cNvPr id="4" name="Shape 1"/>
          <p:cNvSpPr/>
          <p:nvPr/>
        </p:nvSpPr>
        <p:spPr>
          <a:xfrm>
            <a:off x="9646920" y="2331720"/>
            <a:ext cx="1371600" cy="1371600"/>
          </a:xfrm>
          <a:prstGeom prst="ellipse">
            <a:avLst/>
          </a:prstGeom>
          <a:solidFill>
            <a:srgbClr val="E63946"/>
          </a:solidFill>
          <a:ln/>
        </p:spPr>
      </p:sp>
      <p:pic>
        <p:nvPicPr>
          <p:cNvPr id="5" name="Image 1" descr="icons/fishhook_white.png">    </p:cNvPr>
          <p:cNvPicPr>
            <a:picLocks noChangeAspect="1"/>
          </p:cNvPicPr>
          <p:nvPr/>
        </p:nvPicPr>
        <p:blipFill>
          <a:blip r:embed="rId2"/>
          <a:stretch>
            <a:fillRect/>
          </a:stretch>
        </p:blipFill>
        <p:spPr>
          <a:xfrm>
            <a:off x="9955530" y="2640330"/>
            <a:ext cx="754380" cy="754380"/>
          </a:xfrm>
          <a:prstGeom prst="rect">
            <a:avLst/>
          </a:prstGeom>
        </p:spPr>
      </p:pic>
      <p:sp>
        <p:nvSpPr>
          <p:cNvPr id="6" name="Text 2"/>
          <p:cNvSpPr/>
          <p:nvPr/>
        </p:nvSpPr>
        <p:spPr>
          <a:xfrm>
            <a:off x="731520" y="1371600"/>
            <a:ext cx="8229600" cy="365760"/>
          </a:xfrm>
          <a:prstGeom prst="rect">
            <a:avLst/>
          </a:prstGeom>
          <a:noFill/>
          <a:ln/>
        </p:spPr>
        <p:txBody>
          <a:bodyPr wrap="square" lIns="0" tIns="0" rIns="0" bIns="0" rtlCol="0" anchor="ctr"/>
          <a:lstStyle/>
          <a:p>
            <a:pPr indent="0" marL="0">
              <a:buNone/>
            </a:pPr>
            <a:r>
              <a:rPr lang="en-US" sz="1300" b="1" spc="300" kern="0" dirty="0">
                <a:solidFill>
                  <a:srgbClr val="1FA39A"/>
                </a:solidFill>
                <a:latin typeface="Calibri" pitchFamily="34" charset="0"/>
                <a:ea typeface="Calibri" pitchFamily="34" charset="-122"/>
                <a:cs typeface="Calibri" pitchFamily="34" charset="-120"/>
              </a:rPr>
              <a:t>CODEALPHA  |  CYBER SECURITY INTERNSHIP  •  TASK 2</a:t>
            </a:r>
            <a:endParaRPr lang="en-US" sz="1300" dirty="0"/>
          </a:p>
        </p:txBody>
      </p:sp>
      <p:sp>
        <p:nvSpPr>
          <p:cNvPr id="7" name="Text 3"/>
          <p:cNvSpPr/>
          <p:nvPr/>
        </p:nvSpPr>
        <p:spPr>
          <a:xfrm>
            <a:off x="713232" y="1874520"/>
            <a:ext cx="868680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Phishing Awareness</a:t>
            </a:r>
            <a:endParaRPr lang="en-US" sz="5000" dirty="0"/>
          </a:p>
        </p:txBody>
      </p:sp>
      <p:sp>
        <p:nvSpPr>
          <p:cNvPr id="8" name="Text 4"/>
          <p:cNvSpPr/>
          <p:nvPr/>
        </p:nvSpPr>
        <p:spPr>
          <a:xfrm>
            <a:off x="713232" y="2606040"/>
            <a:ext cx="868680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Training</a:t>
            </a:r>
            <a:endParaRPr lang="en-US" sz="5000" dirty="0"/>
          </a:p>
        </p:txBody>
      </p:sp>
      <p:sp>
        <p:nvSpPr>
          <p:cNvPr id="9" name="Text 5"/>
          <p:cNvSpPr/>
          <p:nvPr/>
        </p:nvSpPr>
        <p:spPr>
          <a:xfrm>
            <a:off x="731520" y="3520440"/>
            <a:ext cx="7589520" cy="457200"/>
          </a:xfrm>
          <a:prstGeom prst="rect">
            <a:avLst/>
          </a:prstGeom>
          <a:noFill/>
          <a:ln/>
        </p:spPr>
        <p:txBody>
          <a:bodyPr wrap="square" lIns="0" tIns="0" rIns="0" bIns="0" rtlCol="0" anchor="ctr"/>
          <a:lstStyle/>
          <a:p>
            <a:pPr indent="0" marL="0">
              <a:buNone/>
            </a:pPr>
            <a:r>
              <a:rPr lang="en-US" sz="1700" i="1" dirty="0">
                <a:solidFill>
                  <a:srgbClr val="E8EEF7"/>
                </a:solidFill>
                <a:latin typeface="Calibri" pitchFamily="34" charset="0"/>
                <a:ea typeface="Calibri" pitchFamily="34" charset="-122"/>
                <a:cs typeface="Calibri" pitchFamily="34" charset="-120"/>
              </a:rPr>
              <a:t>Recognize the bait. Question the link. Protect the inbox.</a:t>
            </a:r>
            <a:endParaRPr lang="en-US" sz="1700" dirty="0"/>
          </a:p>
        </p:txBody>
      </p:sp>
      <p:sp>
        <p:nvSpPr>
          <p:cNvPr id="10" name="Text 6"/>
          <p:cNvSpPr/>
          <p:nvPr/>
        </p:nvSpPr>
        <p:spPr>
          <a:xfrm>
            <a:off x="731520" y="5806440"/>
            <a:ext cx="3657600" cy="320040"/>
          </a:xfrm>
          <a:prstGeom prst="rect">
            <a:avLst/>
          </a:prstGeom>
          <a:noFill/>
          <a:ln/>
        </p:spPr>
        <p:txBody>
          <a:bodyPr wrap="square" lIns="0" tIns="0" rIns="0" bIns="0" rtlCol="0" anchor="ctr"/>
          <a:lstStyle/>
          <a:p>
            <a:pPr indent="0" marL="0">
              <a:buNone/>
            </a:pPr>
            <a:r>
              <a:rPr lang="en-US" sz="1300" dirty="0">
                <a:solidFill>
                  <a:srgbClr val="5C6B82"/>
                </a:solidFill>
                <a:latin typeface="Calibri" pitchFamily="34" charset="0"/>
                <a:ea typeface="Calibri" pitchFamily="34" charset="-122"/>
                <a:cs typeface="Calibri" pitchFamily="34" charset="-120"/>
              </a:rPr>
              <a:t>Prepared by  </a:t>
            </a:r>
            <a:pPr indent="0" marL="0">
              <a:buNone/>
            </a:pPr>
            <a:r>
              <a:rPr lang="en-US" sz="1300" b="1" dirty="0">
                <a:solidFill>
                  <a:srgbClr val="FFFFFF"/>
                </a:solidFill>
                <a:latin typeface="Calibri" pitchFamily="34" charset="0"/>
                <a:ea typeface="Calibri" pitchFamily="34" charset="-122"/>
                <a:cs typeface="Calibri" pitchFamily="34" charset="-120"/>
              </a:rPr>
              <a:t>Malaika Rizwan</a:t>
            </a:r>
            <a:endParaRPr lang="en-US" sz="1300" dirty="0"/>
          </a:p>
        </p:txBody>
      </p:sp>
      <p:sp>
        <p:nvSpPr>
          <p:cNvPr id="11" name="Text 7"/>
          <p:cNvSpPr/>
          <p:nvPr/>
        </p:nvSpPr>
        <p:spPr>
          <a:xfrm>
            <a:off x="731520" y="6153912"/>
            <a:ext cx="6858000" cy="320040"/>
          </a:xfrm>
          <a:prstGeom prst="rect">
            <a:avLst/>
          </a:prstGeom>
          <a:noFill/>
          <a:ln/>
        </p:spPr>
        <p:txBody>
          <a:bodyPr wrap="square" lIns="0" tIns="0" rIns="0" bIns="0" rtlCol="0" anchor="ctr"/>
          <a:lstStyle/>
          <a:p>
            <a:pPr indent="0" marL="0">
              <a:buNone/>
            </a:pPr>
            <a:r>
              <a:rPr lang="en-US" sz="1300" dirty="0">
                <a:solidFill>
                  <a:srgbClr val="5C6B82"/>
                </a:solidFill>
                <a:latin typeface="Calibri" pitchFamily="34" charset="0"/>
                <a:ea typeface="Calibri" pitchFamily="34" charset="-122"/>
                <a:cs typeface="Calibri" pitchFamily="34" charset="-120"/>
              </a:rPr>
              <a:t>Project  </a:t>
            </a:r>
            <a:pPr indent="0" marL="0">
              <a:buNone/>
            </a:pPr>
            <a:r>
              <a:rPr lang="en-US" sz="1300" b="1" dirty="0">
                <a:solidFill>
                  <a:srgbClr val="FFFFFF"/>
                </a:solidFill>
                <a:latin typeface="Calibri" pitchFamily="34" charset="0"/>
                <a:ea typeface="Calibri" pitchFamily="34" charset="-122"/>
                <a:cs typeface="Calibri" pitchFamily="34" charset="-120"/>
              </a:rPr>
              <a:t>CodeAlpha_Phishing_Awareness_Training</a:t>
            </a:r>
            <a:endParaRPr lang="en-US" sz="1300" dirty="0"/>
          </a:p>
        </p:txBody>
      </p:sp>
      <p:sp>
        <p:nvSpPr>
          <p:cNvPr id="12" name="Text 8"/>
          <p:cNvSpPr/>
          <p:nvPr/>
        </p:nvSpPr>
        <p:spPr>
          <a:xfrm>
            <a:off x="731520" y="6501384"/>
            <a:ext cx="3657600" cy="274320"/>
          </a:xfrm>
          <a:prstGeom prst="rect">
            <a:avLst/>
          </a:prstGeom>
          <a:noFill/>
          <a:ln/>
        </p:spPr>
        <p:txBody>
          <a:bodyPr wrap="square" lIns="0" tIns="0" rIns="0" bIns="0" rtlCol="0" anchor="ctr"/>
          <a:lstStyle/>
          <a:p>
            <a:pPr indent="0" marL="0">
              <a:buNone/>
            </a:pPr>
            <a:r>
              <a:rPr lang="en-US" sz="1100" dirty="0">
                <a:solidFill>
                  <a:srgbClr val="5C6B82"/>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E63946"/>
          </a:solidFill>
          <a:ln/>
        </p:spPr>
      </p:sp>
      <p:pic>
        <p:nvPicPr>
          <p:cNvPr id="3" name="Image 0" descr="icons/fishhook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E63946"/>
                </a:solidFill>
                <a:latin typeface="Calibri" pitchFamily="34" charset="0"/>
                <a:ea typeface="Calibri" pitchFamily="34" charset="-122"/>
                <a:cs typeface="Calibri" pitchFamily="34" charset="-120"/>
              </a:rPr>
              <a:t>FOUNDATIONS</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What is Phishing?</a:t>
            </a:r>
            <a:endParaRPr lang="en-US" sz="3000" dirty="0"/>
          </a:p>
        </p:txBody>
      </p:sp>
      <p:sp>
        <p:nvSpPr>
          <p:cNvPr id="6" name="Text 3"/>
          <p:cNvSpPr/>
          <p:nvPr/>
        </p:nvSpPr>
        <p:spPr>
          <a:xfrm>
            <a:off x="548640" y="1371600"/>
            <a:ext cx="6675120" cy="1188720"/>
          </a:xfrm>
          <a:prstGeom prst="rect">
            <a:avLst/>
          </a:prstGeom>
          <a:noFill/>
          <a:ln/>
        </p:spPr>
        <p:txBody>
          <a:bodyPr wrap="square" lIns="0" tIns="0" rIns="0" bIns="0" rtlCol="0" anchor="t"/>
          <a:lstStyle/>
          <a:p>
            <a:pPr indent="0" marL="0">
              <a:lnSpc>
                <a:spcPct val="115000"/>
              </a:lnSpc>
              <a:buNone/>
            </a:pPr>
            <a:r>
              <a:rPr lang="en-US" sz="1600" b="1" dirty="0">
                <a:solidFill>
                  <a:srgbClr val="E63946"/>
                </a:solidFill>
                <a:latin typeface="Calibri" pitchFamily="34" charset="0"/>
                <a:ea typeface="Calibri" pitchFamily="34" charset="-122"/>
                <a:cs typeface="Calibri" pitchFamily="34" charset="-120"/>
              </a:rPr>
              <a:t>Phishing </a:t>
            </a:r>
            <a:pPr indent="0" marL="0">
              <a:lnSpc>
                <a:spcPct val="115000"/>
              </a:lnSpc>
              <a:buNone/>
            </a:pPr>
            <a:r>
              <a:rPr lang="en-US" sz="1600" dirty="0">
                <a:solidFill>
                  <a:srgbClr val="14213D"/>
                </a:solidFill>
                <a:latin typeface="Calibri" pitchFamily="34" charset="0"/>
                <a:ea typeface="Calibri" pitchFamily="34" charset="-122"/>
                <a:cs typeface="Calibri" pitchFamily="34" charset="-120"/>
              </a:rPr>
              <a:t>is a form of social engineering attack in which cybercriminals impersonate a trusted person, brand, or organization to trick victims into revealing sensitive information, transferring money, or installing malicious software.</a:t>
            </a:r>
            <a:endParaRPr lang="en-US" sz="1600" dirty="0"/>
          </a:p>
        </p:txBody>
      </p:sp>
      <p:sp>
        <p:nvSpPr>
          <p:cNvPr id="7" name="Text 4"/>
          <p:cNvSpPr/>
          <p:nvPr/>
        </p:nvSpPr>
        <p:spPr>
          <a:xfrm>
            <a:off x="548640" y="2697480"/>
            <a:ext cx="6400800" cy="320040"/>
          </a:xfrm>
          <a:prstGeom prst="rect">
            <a:avLst/>
          </a:prstGeom>
          <a:noFill/>
          <a:ln/>
        </p:spPr>
        <p:txBody>
          <a:bodyPr wrap="square" lIns="0" tIns="0" rIns="0" bIns="0" rtlCol="0" anchor="ctr"/>
          <a:lstStyle/>
          <a:p>
            <a:pPr indent="0" marL="0">
              <a:buNone/>
            </a:pPr>
            <a:r>
              <a:rPr lang="en-US" sz="1400" b="1" dirty="0">
                <a:solidFill>
                  <a:srgbClr val="0B132B"/>
                </a:solidFill>
                <a:latin typeface="Calibri" pitchFamily="34" charset="0"/>
                <a:ea typeface="Calibri" pitchFamily="34" charset="-122"/>
                <a:cs typeface="Calibri" pitchFamily="34" charset="-120"/>
              </a:rPr>
              <a:t>What attackers are usually after:</a:t>
            </a:r>
            <a:endParaRPr lang="en-US" sz="1400" dirty="0"/>
          </a:p>
        </p:txBody>
      </p:sp>
      <p:sp>
        <p:nvSpPr>
          <p:cNvPr id="8" name="Shape 5"/>
          <p:cNvSpPr/>
          <p:nvPr/>
        </p:nvSpPr>
        <p:spPr>
          <a:xfrm>
            <a:off x="548640" y="3108960"/>
            <a:ext cx="128016" cy="128016"/>
          </a:xfrm>
          <a:prstGeom prst="ellipse">
            <a:avLst/>
          </a:prstGeom>
          <a:solidFill>
            <a:srgbClr val="E63946"/>
          </a:solidFill>
          <a:ln/>
        </p:spPr>
      </p:sp>
      <p:sp>
        <p:nvSpPr>
          <p:cNvPr id="9" name="Text 6"/>
          <p:cNvSpPr/>
          <p:nvPr/>
        </p:nvSpPr>
        <p:spPr>
          <a:xfrm>
            <a:off x="868680" y="2999232"/>
            <a:ext cx="6217920" cy="3657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Login credentials &amp; passwords</a:t>
            </a:r>
            <a:endParaRPr lang="en-US" sz="1400" dirty="0"/>
          </a:p>
        </p:txBody>
      </p:sp>
      <p:sp>
        <p:nvSpPr>
          <p:cNvPr id="10" name="Shape 7"/>
          <p:cNvSpPr/>
          <p:nvPr/>
        </p:nvSpPr>
        <p:spPr>
          <a:xfrm>
            <a:off x="548640" y="3584448"/>
            <a:ext cx="128016" cy="128016"/>
          </a:xfrm>
          <a:prstGeom prst="ellipse">
            <a:avLst/>
          </a:prstGeom>
          <a:solidFill>
            <a:srgbClr val="E63946"/>
          </a:solidFill>
          <a:ln/>
        </p:spPr>
      </p:sp>
      <p:sp>
        <p:nvSpPr>
          <p:cNvPr id="11" name="Text 8"/>
          <p:cNvSpPr/>
          <p:nvPr/>
        </p:nvSpPr>
        <p:spPr>
          <a:xfrm>
            <a:off x="868680" y="3474720"/>
            <a:ext cx="6217920" cy="3657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Banking and credit card details</a:t>
            </a:r>
            <a:endParaRPr lang="en-US" sz="1400" dirty="0"/>
          </a:p>
        </p:txBody>
      </p:sp>
      <p:sp>
        <p:nvSpPr>
          <p:cNvPr id="12" name="Shape 9"/>
          <p:cNvSpPr/>
          <p:nvPr/>
        </p:nvSpPr>
        <p:spPr>
          <a:xfrm>
            <a:off x="548640" y="4059936"/>
            <a:ext cx="128016" cy="128016"/>
          </a:xfrm>
          <a:prstGeom prst="ellipse">
            <a:avLst/>
          </a:prstGeom>
          <a:solidFill>
            <a:srgbClr val="E63946"/>
          </a:solidFill>
          <a:ln/>
        </p:spPr>
      </p:sp>
      <p:sp>
        <p:nvSpPr>
          <p:cNvPr id="13" name="Text 10"/>
          <p:cNvSpPr/>
          <p:nvPr/>
        </p:nvSpPr>
        <p:spPr>
          <a:xfrm>
            <a:off x="868680" y="3950208"/>
            <a:ext cx="6217920" cy="3657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Personal data for identity theft</a:t>
            </a:r>
            <a:endParaRPr lang="en-US" sz="1400" dirty="0"/>
          </a:p>
        </p:txBody>
      </p:sp>
      <p:sp>
        <p:nvSpPr>
          <p:cNvPr id="14" name="Shape 11"/>
          <p:cNvSpPr/>
          <p:nvPr/>
        </p:nvSpPr>
        <p:spPr>
          <a:xfrm>
            <a:off x="548640" y="4535424"/>
            <a:ext cx="128016" cy="128016"/>
          </a:xfrm>
          <a:prstGeom prst="ellipse">
            <a:avLst/>
          </a:prstGeom>
          <a:solidFill>
            <a:srgbClr val="E63946"/>
          </a:solidFill>
          <a:ln/>
        </p:spPr>
      </p:sp>
      <p:sp>
        <p:nvSpPr>
          <p:cNvPr id="15" name="Text 12"/>
          <p:cNvSpPr/>
          <p:nvPr/>
        </p:nvSpPr>
        <p:spPr>
          <a:xfrm>
            <a:off x="868680" y="4425696"/>
            <a:ext cx="6217920" cy="3657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foothold to install malware or ransomware</a:t>
            </a:r>
            <a:endParaRPr lang="en-US" sz="1400" dirty="0"/>
          </a:p>
        </p:txBody>
      </p:sp>
      <p:sp>
        <p:nvSpPr>
          <p:cNvPr id="16" name="Text 13"/>
          <p:cNvSpPr/>
          <p:nvPr/>
        </p:nvSpPr>
        <p:spPr>
          <a:xfrm>
            <a:off x="548640" y="5074920"/>
            <a:ext cx="6400800" cy="292608"/>
          </a:xfrm>
          <a:prstGeom prst="rect">
            <a:avLst/>
          </a:prstGeom>
          <a:noFill/>
          <a:ln/>
        </p:spPr>
        <p:txBody>
          <a:bodyPr wrap="square" lIns="0" tIns="0" rIns="0" bIns="0" rtlCol="0" anchor="ctr"/>
          <a:lstStyle/>
          <a:p>
            <a:pPr indent="0" marL="0">
              <a:buNone/>
            </a:pPr>
            <a:r>
              <a:rPr lang="en-US" sz="1300" b="1" dirty="0">
                <a:solidFill>
                  <a:srgbClr val="0B132B"/>
                </a:solidFill>
                <a:latin typeface="Calibri" pitchFamily="34" charset="0"/>
                <a:ea typeface="Calibri" pitchFamily="34" charset="-122"/>
                <a:cs typeface="Calibri" pitchFamily="34" charset="-120"/>
              </a:rPr>
              <a:t>Commonly impersonated by attackers:</a:t>
            </a:r>
            <a:endParaRPr lang="en-US" sz="1300" dirty="0"/>
          </a:p>
        </p:txBody>
      </p:sp>
      <p:sp>
        <p:nvSpPr>
          <p:cNvPr id="17" name="Shape 14"/>
          <p:cNvSpPr/>
          <p:nvPr/>
        </p:nvSpPr>
        <p:spPr>
          <a:xfrm>
            <a:off x="548640" y="5440680"/>
            <a:ext cx="667512" cy="384048"/>
          </a:xfrm>
          <a:prstGeom prst="roundRect">
            <a:avLst>
              <a:gd name="adj" fmla="val 50000"/>
            </a:avLst>
          </a:prstGeom>
          <a:solidFill>
            <a:srgbClr val="E8EEF7"/>
          </a:solidFill>
          <a:ln/>
        </p:spPr>
      </p:sp>
      <p:sp>
        <p:nvSpPr>
          <p:cNvPr id="18" name="Text 15"/>
          <p:cNvSpPr/>
          <p:nvPr/>
        </p:nvSpPr>
        <p:spPr>
          <a:xfrm>
            <a:off x="548640" y="5440680"/>
            <a:ext cx="667512" cy="384048"/>
          </a:xfrm>
          <a:prstGeom prst="rect">
            <a:avLst/>
          </a:prstGeom>
          <a:noFill/>
          <a:ln/>
        </p:spPr>
        <p:txBody>
          <a:bodyPr wrap="square" lIns="0" tIns="0" rIns="0" bIns="0" rtlCol="0" anchor="ctr"/>
          <a:lstStyle/>
          <a:p>
            <a:pPr algn="ctr" indent="0" marL="0">
              <a:buNone/>
            </a:pPr>
            <a:r>
              <a:rPr lang="en-US" sz="1150" dirty="0">
                <a:solidFill>
                  <a:srgbClr val="0B132B"/>
                </a:solidFill>
                <a:latin typeface="Calibri" pitchFamily="34" charset="0"/>
                <a:ea typeface="Calibri" pitchFamily="34" charset="-122"/>
                <a:cs typeface="Calibri" pitchFamily="34" charset="-120"/>
              </a:rPr>
              <a:t>Banks</a:t>
            </a:r>
            <a:endParaRPr lang="en-US" sz="1150" dirty="0"/>
          </a:p>
        </p:txBody>
      </p:sp>
      <p:sp>
        <p:nvSpPr>
          <p:cNvPr id="19" name="Shape 16"/>
          <p:cNvSpPr/>
          <p:nvPr/>
        </p:nvSpPr>
        <p:spPr>
          <a:xfrm>
            <a:off x="1380744" y="5440680"/>
            <a:ext cx="1567282" cy="384048"/>
          </a:xfrm>
          <a:prstGeom prst="roundRect">
            <a:avLst>
              <a:gd name="adj" fmla="val 50000"/>
            </a:avLst>
          </a:prstGeom>
          <a:solidFill>
            <a:srgbClr val="E8EEF7"/>
          </a:solidFill>
          <a:ln/>
        </p:spPr>
      </p:sp>
      <p:sp>
        <p:nvSpPr>
          <p:cNvPr id="20" name="Text 17"/>
          <p:cNvSpPr/>
          <p:nvPr/>
        </p:nvSpPr>
        <p:spPr>
          <a:xfrm>
            <a:off x="1380744" y="5440680"/>
            <a:ext cx="1567282" cy="384048"/>
          </a:xfrm>
          <a:prstGeom prst="rect">
            <a:avLst/>
          </a:prstGeom>
          <a:noFill/>
          <a:ln/>
        </p:spPr>
        <p:txBody>
          <a:bodyPr wrap="square" lIns="0" tIns="0" rIns="0" bIns="0" rtlCol="0" anchor="ctr"/>
          <a:lstStyle/>
          <a:p>
            <a:pPr algn="ctr" indent="0" marL="0">
              <a:buNone/>
            </a:pPr>
            <a:r>
              <a:rPr lang="en-US" sz="1150" dirty="0">
                <a:solidFill>
                  <a:srgbClr val="0B132B"/>
                </a:solidFill>
                <a:latin typeface="Calibri" pitchFamily="34" charset="0"/>
                <a:ea typeface="Calibri" pitchFamily="34" charset="-122"/>
                <a:cs typeface="Calibri" pitchFamily="34" charset="-120"/>
              </a:rPr>
              <a:t>Delivery Couriers</a:t>
            </a:r>
            <a:endParaRPr lang="en-US" sz="1150" dirty="0"/>
          </a:p>
        </p:txBody>
      </p:sp>
      <p:sp>
        <p:nvSpPr>
          <p:cNvPr id="21" name="Shape 18"/>
          <p:cNvSpPr/>
          <p:nvPr/>
        </p:nvSpPr>
        <p:spPr>
          <a:xfrm>
            <a:off x="3112618" y="5440680"/>
            <a:ext cx="1192378" cy="384048"/>
          </a:xfrm>
          <a:prstGeom prst="roundRect">
            <a:avLst>
              <a:gd name="adj" fmla="val 50000"/>
            </a:avLst>
          </a:prstGeom>
          <a:solidFill>
            <a:srgbClr val="E8EEF7"/>
          </a:solidFill>
          <a:ln/>
        </p:spPr>
      </p:sp>
      <p:sp>
        <p:nvSpPr>
          <p:cNvPr id="22" name="Text 19"/>
          <p:cNvSpPr/>
          <p:nvPr/>
        </p:nvSpPr>
        <p:spPr>
          <a:xfrm>
            <a:off x="3112618" y="5440680"/>
            <a:ext cx="1192378" cy="384048"/>
          </a:xfrm>
          <a:prstGeom prst="rect">
            <a:avLst/>
          </a:prstGeom>
          <a:noFill/>
          <a:ln/>
        </p:spPr>
        <p:txBody>
          <a:bodyPr wrap="square" lIns="0" tIns="0" rIns="0" bIns="0" rtlCol="0" anchor="ctr"/>
          <a:lstStyle/>
          <a:p>
            <a:pPr algn="ctr" indent="0" marL="0">
              <a:buNone/>
            </a:pPr>
            <a:r>
              <a:rPr lang="en-US" sz="1150" dirty="0">
                <a:solidFill>
                  <a:srgbClr val="0B132B"/>
                </a:solidFill>
                <a:latin typeface="Calibri" pitchFamily="34" charset="0"/>
                <a:ea typeface="Calibri" pitchFamily="34" charset="-122"/>
                <a:cs typeface="Calibri" pitchFamily="34" charset="-120"/>
              </a:rPr>
              <a:t>Tech Support</a:t>
            </a:r>
            <a:endParaRPr lang="en-US" sz="1150" dirty="0"/>
          </a:p>
        </p:txBody>
      </p:sp>
      <p:sp>
        <p:nvSpPr>
          <p:cNvPr id="23" name="Shape 20"/>
          <p:cNvSpPr/>
          <p:nvPr/>
        </p:nvSpPr>
        <p:spPr>
          <a:xfrm>
            <a:off x="4469587" y="5440680"/>
            <a:ext cx="1642262" cy="384048"/>
          </a:xfrm>
          <a:prstGeom prst="roundRect">
            <a:avLst>
              <a:gd name="adj" fmla="val 50000"/>
            </a:avLst>
          </a:prstGeom>
          <a:solidFill>
            <a:srgbClr val="E8EEF7"/>
          </a:solidFill>
          <a:ln/>
        </p:spPr>
      </p:sp>
      <p:sp>
        <p:nvSpPr>
          <p:cNvPr id="24" name="Text 21"/>
          <p:cNvSpPr/>
          <p:nvPr/>
        </p:nvSpPr>
        <p:spPr>
          <a:xfrm>
            <a:off x="4469587" y="5440680"/>
            <a:ext cx="1642262" cy="384048"/>
          </a:xfrm>
          <a:prstGeom prst="rect">
            <a:avLst/>
          </a:prstGeom>
          <a:noFill/>
          <a:ln/>
        </p:spPr>
        <p:txBody>
          <a:bodyPr wrap="square" lIns="0" tIns="0" rIns="0" bIns="0" rtlCol="0" anchor="ctr"/>
          <a:lstStyle/>
          <a:p>
            <a:pPr algn="ctr" indent="0" marL="0">
              <a:buNone/>
            </a:pPr>
            <a:r>
              <a:rPr lang="en-US" sz="1150" dirty="0">
                <a:solidFill>
                  <a:srgbClr val="0B132B"/>
                </a:solidFill>
                <a:latin typeface="Calibri" pitchFamily="34" charset="0"/>
                <a:ea typeface="Calibri" pitchFamily="34" charset="-122"/>
                <a:cs typeface="Calibri" pitchFamily="34" charset="-120"/>
              </a:rPr>
              <a:t>Streaming Services</a:t>
            </a:r>
            <a:endParaRPr lang="en-US" sz="1150" dirty="0"/>
          </a:p>
        </p:txBody>
      </p:sp>
      <p:sp>
        <p:nvSpPr>
          <p:cNvPr id="25" name="Shape 22"/>
          <p:cNvSpPr/>
          <p:nvPr/>
        </p:nvSpPr>
        <p:spPr>
          <a:xfrm>
            <a:off x="6276442" y="5440680"/>
            <a:ext cx="1342339" cy="384048"/>
          </a:xfrm>
          <a:prstGeom prst="roundRect">
            <a:avLst>
              <a:gd name="adj" fmla="val 50000"/>
            </a:avLst>
          </a:prstGeom>
          <a:solidFill>
            <a:srgbClr val="E8EEF7"/>
          </a:solidFill>
          <a:ln/>
        </p:spPr>
      </p:sp>
      <p:sp>
        <p:nvSpPr>
          <p:cNvPr id="26" name="Text 23"/>
          <p:cNvSpPr/>
          <p:nvPr/>
        </p:nvSpPr>
        <p:spPr>
          <a:xfrm>
            <a:off x="6276442" y="5440680"/>
            <a:ext cx="1342339" cy="384048"/>
          </a:xfrm>
          <a:prstGeom prst="rect">
            <a:avLst/>
          </a:prstGeom>
          <a:noFill/>
          <a:ln/>
        </p:spPr>
        <p:txBody>
          <a:bodyPr wrap="square" lIns="0" tIns="0" rIns="0" bIns="0" rtlCol="0" anchor="ctr"/>
          <a:lstStyle/>
          <a:p>
            <a:pPr algn="ctr" indent="0" marL="0">
              <a:buNone/>
            </a:pPr>
            <a:r>
              <a:rPr lang="en-US" sz="1150" dirty="0">
                <a:solidFill>
                  <a:srgbClr val="0B132B"/>
                </a:solidFill>
                <a:latin typeface="Calibri" pitchFamily="34" charset="0"/>
                <a:ea typeface="Calibri" pitchFamily="34" charset="-122"/>
                <a:cs typeface="Calibri" pitchFamily="34" charset="-120"/>
              </a:rPr>
              <a:t>Employers / HR</a:t>
            </a:r>
            <a:endParaRPr lang="en-US" sz="1150" dirty="0"/>
          </a:p>
        </p:txBody>
      </p:sp>
      <p:sp>
        <p:nvSpPr>
          <p:cNvPr id="27" name="Shape 24"/>
          <p:cNvSpPr/>
          <p:nvPr/>
        </p:nvSpPr>
        <p:spPr>
          <a:xfrm>
            <a:off x="7543800" y="1371600"/>
            <a:ext cx="4114800" cy="4434840"/>
          </a:xfrm>
          <a:prstGeom prst="roundRect">
            <a:avLst>
              <a:gd name="adj" fmla="val 1778"/>
            </a:avLst>
          </a:prstGeom>
          <a:solidFill>
            <a:srgbClr val="152642"/>
          </a:solidFill>
          <a:ln/>
          <a:effectLst>
            <a:outerShdw sx="100000" sy="100000" kx="0" ky="0" algn="bl" rotWithShape="0" blurRad="101600" dist="38100" dir="5400000">
              <a:srgbClr val="000000">
                <a:alpha val="12000"/>
              </a:srgbClr>
            </a:outerShdw>
          </a:effectLst>
        </p:spPr>
      </p:sp>
      <p:pic>
        <p:nvPicPr>
          <p:cNvPr id="28" name="Image 1" descr="icons/fishhook_red.png">    </p:cNvPr>
          <p:cNvPicPr>
            <a:picLocks noChangeAspect="1"/>
          </p:cNvPicPr>
          <p:nvPr/>
        </p:nvPicPr>
        <p:blipFill>
          <a:blip r:embed="rId2"/>
          <a:stretch>
            <a:fillRect/>
          </a:stretch>
        </p:blipFill>
        <p:spPr>
          <a:xfrm>
            <a:off x="7863840" y="1645920"/>
            <a:ext cx="640080" cy="640080"/>
          </a:xfrm>
          <a:prstGeom prst="rect">
            <a:avLst/>
          </a:prstGeom>
        </p:spPr>
      </p:pic>
      <p:sp>
        <p:nvSpPr>
          <p:cNvPr id="29" name="Text 25"/>
          <p:cNvSpPr/>
          <p:nvPr/>
        </p:nvSpPr>
        <p:spPr>
          <a:xfrm>
            <a:off x="8641080" y="1783080"/>
            <a:ext cx="2834640" cy="365760"/>
          </a:xfrm>
          <a:prstGeom prst="rect">
            <a:avLst/>
          </a:prstGeom>
          <a:noFill/>
          <a:ln/>
        </p:spPr>
        <p:txBody>
          <a:bodyPr wrap="square" lIns="0" tIns="0" rIns="0" bIns="0" rtlCol="0" anchor="ctr"/>
          <a:lstStyle/>
          <a:p>
            <a:pPr indent="0" marL="0">
              <a:buNone/>
            </a:pPr>
            <a:r>
              <a:rPr lang="en-US" sz="1100" b="1" spc="150" kern="0" dirty="0">
                <a:solidFill>
                  <a:srgbClr val="1FA39A"/>
                </a:solidFill>
                <a:latin typeface="Calibri" pitchFamily="34" charset="0"/>
                <a:ea typeface="Calibri" pitchFamily="34" charset="-122"/>
                <a:cs typeface="Calibri" pitchFamily="34" charset="-120"/>
              </a:rPr>
              <a:t>WHERE THE NAME COMES FROM</a:t>
            </a:r>
            <a:endParaRPr lang="en-US" sz="1100" dirty="0"/>
          </a:p>
        </p:txBody>
      </p:sp>
      <p:sp>
        <p:nvSpPr>
          <p:cNvPr id="30" name="Text 26"/>
          <p:cNvSpPr/>
          <p:nvPr/>
        </p:nvSpPr>
        <p:spPr>
          <a:xfrm>
            <a:off x="7863840" y="2331720"/>
            <a:ext cx="3520440" cy="1005840"/>
          </a:xfrm>
          <a:prstGeom prst="rect">
            <a:avLst/>
          </a:prstGeom>
          <a:noFill/>
          <a:ln/>
        </p:spPr>
        <p:txBody>
          <a:bodyPr wrap="square" lIns="0" tIns="0" rIns="0" bIns="0" rtlCol="0" anchor="ctr"/>
          <a:lstStyle/>
          <a:p>
            <a:pPr indent="0" marL="0">
              <a:lnSpc>
                <a:spcPct val="115000"/>
              </a:lnSpc>
              <a:buNone/>
            </a:pPr>
            <a:r>
              <a:rPr lang="en-US" sz="1300" dirty="0">
                <a:solidFill>
                  <a:srgbClr val="E8EEF7"/>
                </a:solidFill>
                <a:latin typeface="Calibri" pitchFamily="34" charset="0"/>
                <a:ea typeface="Calibri" pitchFamily="34" charset="-122"/>
                <a:cs typeface="Calibri" pitchFamily="34" charset="-120"/>
              </a:rPr>
              <a:t>Like a fisherman casting bait, attackers send out deceptive messages — the “bait” — hoping a victim will “bite” by clicking a link or sharing information.</a:t>
            </a:r>
            <a:endParaRPr lang="en-US" sz="1300" dirty="0"/>
          </a:p>
        </p:txBody>
      </p:sp>
      <p:sp>
        <p:nvSpPr>
          <p:cNvPr id="31" name="Shape 27"/>
          <p:cNvSpPr/>
          <p:nvPr/>
        </p:nvSpPr>
        <p:spPr>
          <a:xfrm>
            <a:off x="7863840" y="3520440"/>
            <a:ext cx="3520440" cy="18288"/>
          </a:xfrm>
          <a:prstGeom prst="rect">
            <a:avLst/>
          </a:prstGeom>
          <a:solidFill>
            <a:srgbClr val="3A506B"/>
          </a:solidFill>
          <a:ln/>
        </p:spPr>
      </p:sp>
      <p:sp>
        <p:nvSpPr>
          <p:cNvPr id="32" name="Text 28"/>
          <p:cNvSpPr/>
          <p:nvPr/>
        </p:nvSpPr>
        <p:spPr>
          <a:xfrm>
            <a:off x="7863840" y="3703320"/>
            <a:ext cx="2834640" cy="320040"/>
          </a:xfrm>
          <a:prstGeom prst="rect">
            <a:avLst/>
          </a:prstGeom>
          <a:noFill/>
          <a:ln/>
        </p:spPr>
        <p:txBody>
          <a:bodyPr wrap="square" lIns="0" tIns="0" rIns="0" bIns="0" rtlCol="0" anchor="ctr"/>
          <a:lstStyle/>
          <a:p>
            <a:pPr indent="0" marL="0">
              <a:buNone/>
            </a:pPr>
            <a:r>
              <a:rPr lang="en-US" sz="1100" b="1" spc="150" kern="0" dirty="0">
                <a:solidFill>
                  <a:srgbClr val="1FA39A"/>
                </a:solidFill>
                <a:latin typeface="Calibri" pitchFamily="34" charset="0"/>
                <a:ea typeface="Calibri" pitchFamily="34" charset="-122"/>
                <a:cs typeface="Calibri" pitchFamily="34" charset="-120"/>
              </a:rPr>
              <a:t>WHY IT MATTERS</a:t>
            </a:r>
            <a:endParaRPr lang="en-US" sz="1100" dirty="0"/>
          </a:p>
        </p:txBody>
      </p:sp>
      <p:sp>
        <p:nvSpPr>
          <p:cNvPr id="33" name="Text 29"/>
          <p:cNvSpPr/>
          <p:nvPr/>
        </p:nvSpPr>
        <p:spPr>
          <a:xfrm>
            <a:off x="7863840" y="4023360"/>
            <a:ext cx="3520440" cy="1554480"/>
          </a:xfrm>
          <a:prstGeom prst="rect">
            <a:avLst/>
          </a:prstGeom>
          <a:noFill/>
          <a:ln/>
        </p:spPr>
        <p:txBody>
          <a:bodyPr wrap="square" lIns="0" tIns="0" rIns="0" bIns="0" rtlCol="0" anchor="ctr"/>
          <a:lstStyle/>
          <a:p>
            <a:pPr indent="0" marL="0">
              <a:lnSpc>
                <a:spcPct val="115000"/>
              </a:lnSpc>
              <a:buNone/>
            </a:pPr>
            <a:r>
              <a:rPr lang="en-US" sz="1300" dirty="0">
                <a:solidFill>
                  <a:srgbClr val="E8EEF7"/>
                </a:solidFill>
                <a:latin typeface="Calibri" pitchFamily="34" charset="0"/>
                <a:ea typeface="Calibri" pitchFamily="34" charset="-122"/>
                <a:cs typeface="Calibri" pitchFamily="34" charset="-120"/>
              </a:rPr>
              <a:t>Phishing is consistently reported by security researchers as the most common starting point for data breaches — because it targets people, not just systems.</a:t>
            </a:r>
            <a:endParaRPr lang="en-US" sz="1300" dirty="0"/>
          </a:p>
        </p:txBody>
      </p:sp>
      <p:sp>
        <p:nvSpPr>
          <p:cNvPr id="34" name="Text 30"/>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35" name="Text 31"/>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0B132B"/>
          </a:solidFill>
          <a:ln/>
        </p:spPr>
      </p:sp>
      <p:pic>
        <p:nvPicPr>
          <p:cNvPr id="3" name="Image 0" descr="icons/search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0B132B"/>
                </a:solidFill>
                <a:latin typeface="Calibri" pitchFamily="34" charset="0"/>
                <a:ea typeface="Calibri" pitchFamily="34" charset="-122"/>
                <a:cs typeface="Calibri" pitchFamily="34" charset="-120"/>
              </a:rPr>
              <a:t>THE ATTACK LIFECYCLE</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How Phishing Works</a:t>
            </a:r>
            <a:endParaRPr lang="en-US" sz="3000" dirty="0"/>
          </a:p>
        </p:txBody>
      </p:sp>
      <p:sp>
        <p:nvSpPr>
          <p:cNvPr id="6" name="Shape 3"/>
          <p:cNvSpPr/>
          <p:nvPr/>
        </p:nvSpPr>
        <p:spPr>
          <a:xfrm>
            <a:off x="1271016" y="1600200"/>
            <a:ext cx="640080" cy="640080"/>
          </a:xfrm>
          <a:prstGeom prst="ellipse">
            <a:avLst/>
          </a:prstGeom>
          <a:solidFill>
            <a:srgbClr val="0B132B"/>
          </a:solidFill>
          <a:ln/>
        </p:spPr>
      </p:sp>
      <p:pic>
        <p:nvPicPr>
          <p:cNvPr id="7" name="Image 1" descr="icons/search_white.png">    </p:cNvPr>
          <p:cNvPicPr>
            <a:picLocks noChangeAspect="1"/>
          </p:cNvPicPr>
          <p:nvPr/>
        </p:nvPicPr>
        <p:blipFill>
          <a:blip r:embed="rId2"/>
          <a:stretch>
            <a:fillRect/>
          </a:stretch>
        </p:blipFill>
        <p:spPr>
          <a:xfrm>
            <a:off x="1411834" y="1741018"/>
            <a:ext cx="358445" cy="358445"/>
          </a:xfrm>
          <a:prstGeom prst="rect">
            <a:avLst/>
          </a:prstGeom>
        </p:spPr>
      </p:pic>
      <p:sp>
        <p:nvSpPr>
          <p:cNvPr id="8" name="Shape 4"/>
          <p:cNvSpPr/>
          <p:nvPr/>
        </p:nvSpPr>
        <p:spPr>
          <a:xfrm>
            <a:off x="1426464" y="1490472"/>
            <a:ext cx="329184" cy="329184"/>
          </a:xfrm>
          <a:prstGeom prst="ellipse">
            <a:avLst/>
          </a:prstGeom>
          <a:solidFill>
            <a:srgbClr val="1FA39A"/>
          </a:solidFill>
          <a:ln w="19050">
            <a:solidFill>
              <a:srgbClr val="FFFFFF"/>
            </a:solidFill>
            <a:prstDash val="solid"/>
          </a:ln>
        </p:spPr>
      </p:sp>
      <p:sp>
        <p:nvSpPr>
          <p:cNvPr id="9" name="Text 5"/>
          <p:cNvSpPr/>
          <p:nvPr/>
        </p:nvSpPr>
        <p:spPr>
          <a:xfrm>
            <a:off x="1426464"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Shape 6"/>
          <p:cNvSpPr/>
          <p:nvPr/>
        </p:nvSpPr>
        <p:spPr>
          <a:xfrm>
            <a:off x="548640" y="2468880"/>
            <a:ext cx="2084832" cy="2468880"/>
          </a:xfrm>
          <a:prstGeom prst="roundRect">
            <a:avLst>
              <a:gd name="adj" fmla="val 3509"/>
            </a:avLst>
          </a:prstGeom>
          <a:solidFill>
            <a:srgbClr val="E8EEF7"/>
          </a:solidFill>
          <a:ln/>
          <a:effectLst>
            <a:outerShdw sx="100000" sy="100000" kx="0" ky="0" algn="bl" rotWithShape="0" blurRad="101600" dist="38100" dir="5400000">
              <a:srgbClr val="000000">
                <a:alpha val="12000"/>
              </a:srgbClr>
            </a:outerShdw>
          </a:effectLst>
        </p:spPr>
      </p:sp>
      <p:sp>
        <p:nvSpPr>
          <p:cNvPr id="11" name="Text 7"/>
          <p:cNvSpPr/>
          <p:nvPr/>
        </p:nvSpPr>
        <p:spPr>
          <a:xfrm>
            <a:off x="685800" y="2606040"/>
            <a:ext cx="1810512" cy="685800"/>
          </a:xfrm>
          <a:prstGeom prst="rect">
            <a:avLst/>
          </a:prstGeom>
          <a:noFill/>
          <a:ln/>
        </p:spPr>
        <p:txBody>
          <a:bodyPr wrap="square" lIns="0" tIns="0" rIns="0" bIns="0" rtlCol="0" anchor="ctr"/>
          <a:lstStyle/>
          <a:p>
            <a:pPr algn="ctr" indent="0" marL="0">
              <a:buNone/>
            </a:pPr>
            <a:r>
              <a:rPr lang="en-US" sz="1400" b="1" dirty="0">
                <a:solidFill>
                  <a:srgbClr val="0B132B"/>
                </a:solidFill>
                <a:latin typeface="Cambria" pitchFamily="34" charset="0"/>
                <a:ea typeface="Cambria" pitchFamily="34" charset="-122"/>
                <a:cs typeface="Cambria" pitchFamily="34" charset="-120"/>
              </a:rPr>
              <a:t>Research &amp; Target Selection</a:t>
            </a:r>
            <a:endParaRPr lang="en-US" sz="1400" dirty="0"/>
          </a:p>
        </p:txBody>
      </p:sp>
      <p:sp>
        <p:nvSpPr>
          <p:cNvPr id="12" name="Text 8"/>
          <p:cNvSpPr/>
          <p:nvPr/>
        </p:nvSpPr>
        <p:spPr>
          <a:xfrm>
            <a:off x="713232" y="3291840"/>
            <a:ext cx="1755648" cy="1508760"/>
          </a:xfrm>
          <a:prstGeom prst="rect">
            <a:avLst/>
          </a:prstGeom>
          <a:noFill/>
          <a:ln/>
        </p:spPr>
        <p:txBody>
          <a:bodyPr wrap="square" lIns="0" tIns="0" rIns="0" bIns="0" rtlCol="0" anchor="t"/>
          <a:lstStyle/>
          <a:p>
            <a:pPr algn="ctr" indent="0" marL="0">
              <a:lnSpc>
                <a:spcPct val="115000"/>
              </a:lnSpc>
              <a:buNone/>
            </a:pPr>
            <a:r>
              <a:rPr lang="en-US" sz="1150" dirty="0">
                <a:solidFill>
                  <a:srgbClr val="14213D"/>
                </a:solidFill>
                <a:latin typeface="Calibri" pitchFamily="34" charset="0"/>
                <a:ea typeface="Calibri" pitchFamily="34" charset="-122"/>
                <a:cs typeface="Calibri" pitchFamily="34" charset="-120"/>
              </a:rPr>
              <a:t>Attacker studies the target — a person or organization — using social media, company websites, and leaked data.</a:t>
            </a:r>
            <a:endParaRPr lang="en-US" sz="1150" dirty="0"/>
          </a:p>
        </p:txBody>
      </p:sp>
      <p:pic>
        <p:nvPicPr>
          <p:cNvPr id="13" name="Image 2" descr="icons/arrow_slate.png">    </p:cNvPr>
          <p:cNvPicPr>
            <a:picLocks noChangeAspect="1"/>
          </p:cNvPicPr>
          <p:nvPr/>
        </p:nvPicPr>
        <p:blipFill>
          <a:blip r:embed="rId3"/>
          <a:stretch>
            <a:fillRect/>
          </a:stretch>
        </p:blipFill>
        <p:spPr>
          <a:xfrm>
            <a:off x="2651760" y="1764792"/>
            <a:ext cx="146304" cy="146304"/>
          </a:xfrm>
          <a:prstGeom prst="rect">
            <a:avLst/>
          </a:prstGeom>
        </p:spPr>
      </p:pic>
      <p:sp>
        <p:nvSpPr>
          <p:cNvPr id="14" name="Shape 9"/>
          <p:cNvSpPr/>
          <p:nvPr/>
        </p:nvSpPr>
        <p:spPr>
          <a:xfrm>
            <a:off x="3520440" y="1600200"/>
            <a:ext cx="640080" cy="640080"/>
          </a:xfrm>
          <a:prstGeom prst="ellipse">
            <a:avLst/>
          </a:prstGeom>
          <a:solidFill>
            <a:srgbClr val="0B132B"/>
          </a:solidFill>
          <a:ln/>
        </p:spPr>
      </p:sp>
      <p:pic>
        <p:nvPicPr>
          <p:cNvPr id="15" name="Image 3" descr="icons/envelopebait_white.png">    </p:cNvPr>
          <p:cNvPicPr>
            <a:picLocks noChangeAspect="1"/>
          </p:cNvPicPr>
          <p:nvPr/>
        </p:nvPicPr>
        <p:blipFill>
          <a:blip r:embed="rId4"/>
          <a:stretch>
            <a:fillRect/>
          </a:stretch>
        </p:blipFill>
        <p:spPr>
          <a:xfrm>
            <a:off x="3661258" y="1741018"/>
            <a:ext cx="358445" cy="358445"/>
          </a:xfrm>
          <a:prstGeom prst="rect">
            <a:avLst/>
          </a:prstGeom>
        </p:spPr>
      </p:pic>
      <p:sp>
        <p:nvSpPr>
          <p:cNvPr id="16" name="Shape 10"/>
          <p:cNvSpPr/>
          <p:nvPr/>
        </p:nvSpPr>
        <p:spPr>
          <a:xfrm>
            <a:off x="3675888" y="1490472"/>
            <a:ext cx="329184" cy="329184"/>
          </a:xfrm>
          <a:prstGeom prst="ellipse">
            <a:avLst/>
          </a:prstGeom>
          <a:solidFill>
            <a:srgbClr val="1FA39A"/>
          </a:solidFill>
          <a:ln w="19050">
            <a:solidFill>
              <a:srgbClr val="FFFFFF"/>
            </a:solidFill>
            <a:prstDash val="solid"/>
          </a:ln>
        </p:spPr>
      </p:sp>
      <p:sp>
        <p:nvSpPr>
          <p:cNvPr id="17" name="Text 11"/>
          <p:cNvSpPr/>
          <p:nvPr/>
        </p:nvSpPr>
        <p:spPr>
          <a:xfrm>
            <a:off x="3675888"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Shape 12"/>
          <p:cNvSpPr/>
          <p:nvPr/>
        </p:nvSpPr>
        <p:spPr>
          <a:xfrm>
            <a:off x="2798064" y="2468880"/>
            <a:ext cx="2084832" cy="2468880"/>
          </a:xfrm>
          <a:prstGeom prst="roundRect">
            <a:avLst>
              <a:gd name="adj" fmla="val 3509"/>
            </a:avLst>
          </a:prstGeom>
          <a:solidFill>
            <a:srgbClr val="E8EEF7"/>
          </a:solidFill>
          <a:ln/>
          <a:effectLst>
            <a:outerShdw sx="100000" sy="100000" kx="0" ky="0" algn="bl" rotWithShape="0" blurRad="101600" dist="38100" dir="5400000">
              <a:srgbClr val="000000">
                <a:alpha val="12000"/>
              </a:srgbClr>
            </a:outerShdw>
          </a:effectLst>
        </p:spPr>
      </p:sp>
      <p:sp>
        <p:nvSpPr>
          <p:cNvPr id="19" name="Text 13"/>
          <p:cNvSpPr/>
          <p:nvPr/>
        </p:nvSpPr>
        <p:spPr>
          <a:xfrm>
            <a:off x="2935224" y="2606040"/>
            <a:ext cx="1810512" cy="685800"/>
          </a:xfrm>
          <a:prstGeom prst="rect">
            <a:avLst/>
          </a:prstGeom>
          <a:noFill/>
          <a:ln/>
        </p:spPr>
        <p:txBody>
          <a:bodyPr wrap="square" lIns="0" tIns="0" rIns="0" bIns="0" rtlCol="0" anchor="ctr"/>
          <a:lstStyle/>
          <a:p>
            <a:pPr algn="ctr" indent="0" marL="0">
              <a:buNone/>
            </a:pPr>
            <a:r>
              <a:rPr lang="en-US" sz="1400" b="1" dirty="0">
                <a:solidFill>
                  <a:srgbClr val="0B132B"/>
                </a:solidFill>
                <a:latin typeface="Cambria" pitchFamily="34" charset="0"/>
                <a:ea typeface="Cambria" pitchFamily="34" charset="-122"/>
                <a:cs typeface="Cambria" pitchFamily="34" charset="-120"/>
              </a:rPr>
              <a:t>Crafting the Bait</a:t>
            </a:r>
            <a:endParaRPr lang="en-US" sz="1400" dirty="0"/>
          </a:p>
        </p:txBody>
      </p:sp>
      <p:sp>
        <p:nvSpPr>
          <p:cNvPr id="20" name="Text 14"/>
          <p:cNvSpPr/>
          <p:nvPr/>
        </p:nvSpPr>
        <p:spPr>
          <a:xfrm>
            <a:off x="2962656" y="3291840"/>
            <a:ext cx="1755648" cy="1508760"/>
          </a:xfrm>
          <a:prstGeom prst="rect">
            <a:avLst/>
          </a:prstGeom>
          <a:noFill/>
          <a:ln/>
        </p:spPr>
        <p:txBody>
          <a:bodyPr wrap="square" lIns="0" tIns="0" rIns="0" bIns="0" rtlCol="0" anchor="t"/>
          <a:lstStyle/>
          <a:p>
            <a:pPr algn="ctr" indent="0" marL="0">
              <a:lnSpc>
                <a:spcPct val="115000"/>
              </a:lnSpc>
              <a:buNone/>
            </a:pPr>
            <a:r>
              <a:rPr lang="en-US" sz="1150" dirty="0">
                <a:solidFill>
                  <a:srgbClr val="14213D"/>
                </a:solidFill>
                <a:latin typeface="Calibri" pitchFamily="34" charset="0"/>
                <a:ea typeface="Calibri" pitchFamily="34" charset="-122"/>
                <a:cs typeface="Calibri" pitchFamily="34" charset="-120"/>
              </a:rPr>
              <a:t>A convincing fake email, text, or website is built to imitate a trusted brand, colleague, or service.</a:t>
            </a:r>
            <a:endParaRPr lang="en-US" sz="1150" dirty="0"/>
          </a:p>
        </p:txBody>
      </p:sp>
      <p:pic>
        <p:nvPicPr>
          <p:cNvPr id="21" name="Image 4" descr="icons/arrow_slate.png">    </p:cNvPr>
          <p:cNvPicPr>
            <a:picLocks noChangeAspect="1"/>
          </p:cNvPicPr>
          <p:nvPr/>
        </p:nvPicPr>
        <p:blipFill>
          <a:blip r:embed="rId5"/>
          <a:stretch>
            <a:fillRect/>
          </a:stretch>
        </p:blipFill>
        <p:spPr>
          <a:xfrm>
            <a:off x="4901184" y="1764792"/>
            <a:ext cx="146304" cy="146304"/>
          </a:xfrm>
          <a:prstGeom prst="rect">
            <a:avLst/>
          </a:prstGeom>
        </p:spPr>
      </p:pic>
      <p:sp>
        <p:nvSpPr>
          <p:cNvPr id="22" name="Shape 15"/>
          <p:cNvSpPr/>
          <p:nvPr/>
        </p:nvSpPr>
        <p:spPr>
          <a:xfrm>
            <a:off x="5769864" y="1600200"/>
            <a:ext cx="640080" cy="640080"/>
          </a:xfrm>
          <a:prstGeom prst="ellipse">
            <a:avLst/>
          </a:prstGeom>
          <a:solidFill>
            <a:srgbClr val="0B132B"/>
          </a:solidFill>
          <a:ln/>
        </p:spPr>
      </p:sp>
      <p:pic>
        <p:nvPicPr>
          <p:cNvPr id="23" name="Image 5" descr="icons/paperplane_white.png">    </p:cNvPr>
          <p:cNvPicPr>
            <a:picLocks noChangeAspect="1"/>
          </p:cNvPicPr>
          <p:nvPr/>
        </p:nvPicPr>
        <p:blipFill>
          <a:blip r:embed="rId6"/>
          <a:stretch>
            <a:fillRect/>
          </a:stretch>
        </p:blipFill>
        <p:spPr>
          <a:xfrm>
            <a:off x="5910682" y="1741018"/>
            <a:ext cx="358445" cy="358445"/>
          </a:xfrm>
          <a:prstGeom prst="rect">
            <a:avLst/>
          </a:prstGeom>
        </p:spPr>
      </p:pic>
      <p:sp>
        <p:nvSpPr>
          <p:cNvPr id="24" name="Shape 16"/>
          <p:cNvSpPr/>
          <p:nvPr/>
        </p:nvSpPr>
        <p:spPr>
          <a:xfrm>
            <a:off x="5925312" y="1490472"/>
            <a:ext cx="329184" cy="329184"/>
          </a:xfrm>
          <a:prstGeom prst="ellipse">
            <a:avLst/>
          </a:prstGeom>
          <a:solidFill>
            <a:srgbClr val="1FA39A"/>
          </a:solidFill>
          <a:ln w="19050">
            <a:solidFill>
              <a:srgbClr val="FFFFFF"/>
            </a:solidFill>
            <a:prstDash val="solid"/>
          </a:ln>
        </p:spPr>
      </p:sp>
      <p:sp>
        <p:nvSpPr>
          <p:cNvPr id="25" name="Text 17"/>
          <p:cNvSpPr/>
          <p:nvPr/>
        </p:nvSpPr>
        <p:spPr>
          <a:xfrm>
            <a:off x="5925312"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Shape 18"/>
          <p:cNvSpPr/>
          <p:nvPr/>
        </p:nvSpPr>
        <p:spPr>
          <a:xfrm>
            <a:off x="5047488" y="2468880"/>
            <a:ext cx="2084832" cy="2468880"/>
          </a:xfrm>
          <a:prstGeom prst="roundRect">
            <a:avLst>
              <a:gd name="adj" fmla="val 3509"/>
            </a:avLst>
          </a:prstGeom>
          <a:solidFill>
            <a:srgbClr val="E8EEF7"/>
          </a:solidFill>
          <a:ln/>
          <a:effectLst>
            <a:outerShdw sx="100000" sy="100000" kx="0" ky="0" algn="bl" rotWithShape="0" blurRad="101600" dist="38100" dir="5400000">
              <a:srgbClr val="000000">
                <a:alpha val="12000"/>
              </a:srgbClr>
            </a:outerShdw>
          </a:effectLst>
        </p:spPr>
      </p:sp>
      <p:sp>
        <p:nvSpPr>
          <p:cNvPr id="27" name="Text 19"/>
          <p:cNvSpPr/>
          <p:nvPr/>
        </p:nvSpPr>
        <p:spPr>
          <a:xfrm>
            <a:off x="5184648" y="2606040"/>
            <a:ext cx="1810512" cy="685800"/>
          </a:xfrm>
          <a:prstGeom prst="rect">
            <a:avLst/>
          </a:prstGeom>
          <a:noFill/>
          <a:ln/>
        </p:spPr>
        <p:txBody>
          <a:bodyPr wrap="square" lIns="0" tIns="0" rIns="0" bIns="0" rtlCol="0" anchor="ctr"/>
          <a:lstStyle/>
          <a:p>
            <a:pPr algn="ctr" indent="0" marL="0">
              <a:buNone/>
            </a:pPr>
            <a:r>
              <a:rPr lang="en-US" sz="1400" b="1" dirty="0">
                <a:solidFill>
                  <a:srgbClr val="0B132B"/>
                </a:solidFill>
                <a:latin typeface="Cambria" pitchFamily="34" charset="0"/>
                <a:ea typeface="Cambria" pitchFamily="34" charset="-122"/>
                <a:cs typeface="Cambria" pitchFamily="34" charset="-120"/>
              </a:rPr>
              <a:t>Delivery</a:t>
            </a:r>
            <a:endParaRPr lang="en-US" sz="1400" dirty="0"/>
          </a:p>
        </p:txBody>
      </p:sp>
      <p:sp>
        <p:nvSpPr>
          <p:cNvPr id="28" name="Text 20"/>
          <p:cNvSpPr/>
          <p:nvPr/>
        </p:nvSpPr>
        <p:spPr>
          <a:xfrm>
            <a:off x="5212080" y="3291840"/>
            <a:ext cx="1755648" cy="1508760"/>
          </a:xfrm>
          <a:prstGeom prst="rect">
            <a:avLst/>
          </a:prstGeom>
          <a:noFill/>
          <a:ln/>
        </p:spPr>
        <p:txBody>
          <a:bodyPr wrap="square" lIns="0" tIns="0" rIns="0" bIns="0" rtlCol="0" anchor="t"/>
          <a:lstStyle/>
          <a:p>
            <a:pPr algn="ctr" indent="0" marL="0">
              <a:lnSpc>
                <a:spcPct val="115000"/>
              </a:lnSpc>
              <a:buNone/>
            </a:pPr>
            <a:r>
              <a:rPr lang="en-US" sz="1150" dirty="0">
                <a:solidFill>
                  <a:srgbClr val="14213D"/>
                </a:solidFill>
                <a:latin typeface="Calibri" pitchFamily="34" charset="0"/>
                <a:ea typeface="Calibri" pitchFamily="34" charset="-122"/>
                <a:cs typeface="Calibri" pitchFamily="34" charset="-120"/>
              </a:rPr>
              <a:t>The lure is sent through email, SMS, social media, or a phone call to reach the victim.</a:t>
            </a:r>
            <a:endParaRPr lang="en-US" sz="1150" dirty="0"/>
          </a:p>
        </p:txBody>
      </p:sp>
      <p:pic>
        <p:nvPicPr>
          <p:cNvPr id="29" name="Image 6" descr="icons/arrow_slate.png">    </p:cNvPr>
          <p:cNvPicPr>
            <a:picLocks noChangeAspect="1"/>
          </p:cNvPicPr>
          <p:nvPr/>
        </p:nvPicPr>
        <p:blipFill>
          <a:blip r:embed="rId7"/>
          <a:stretch>
            <a:fillRect/>
          </a:stretch>
        </p:blipFill>
        <p:spPr>
          <a:xfrm>
            <a:off x="7150608" y="1764792"/>
            <a:ext cx="146304" cy="146304"/>
          </a:xfrm>
          <a:prstGeom prst="rect">
            <a:avLst/>
          </a:prstGeom>
        </p:spPr>
      </p:pic>
      <p:sp>
        <p:nvSpPr>
          <p:cNvPr id="30" name="Shape 21"/>
          <p:cNvSpPr/>
          <p:nvPr/>
        </p:nvSpPr>
        <p:spPr>
          <a:xfrm>
            <a:off x="8019288" y="1600200"/>
            <a:ext cx="640080" cy="640080"/>
          </a:xfrm>
          <a:prstGeom prst="ellipse">
            <a:avLst/>
          </a:prstGeom>
          <a:solidFill>
            <a:srgbClr val="0B132B"/>
          </a:solidFill>
          <a:ln/>
        </p:spPr>
      </p:sp>
      <p:pic>
        <p:nvPicPr>
          <p:cNvPr id="31" name="Image 7" descr="icons/handpointer_white.png">    </p:cNvPr>
          <p:cNvPicPr>
            <a:picLocks noChangeAspect="1"/>
          </p:cNvPicPr>
          <p:nvPr/>
        </p:nvPicPr>
        <p:blipFill>
          <a:blip r:embed="rId8"/>
          <a:stretch>
            <a:fillRect/>
          </a:stretch>
        </p:blipFill>
        <p:spPr>
          <a:xfrm>
            <a:off x="8160106" y="1741018"/>
            <a:ext cx="358445" cy="358445"/>
          </a:xfrm>
          <a:prstGeom prst="rect">
            <a:avLst/>
          </a:prstGeom>
        </p:spPr>
      </p:pic>
      <p:sp>
        <p:nvSpPr>
          <p:cNvPr id="32" name="Shape 22"/>
          <p:cNvSpPr/>
          <p:nvPr/>
        </p:nvSpPr>
        <p:spPr>
          <a:xfrm>
            <a:off x="8174736" y="1490472"/>
            <a:ext cx="329184" cy="329184"/>
          </a:xfrm>
          <a:prstGeom prst="ellipse">
            <a:avLst/>
          </a:prstGeom>
          <a:solidFill>
            <a:srgbClr val="1FA39A"/>
          </a:solidFill>
          <a:ln w="19050">
            <a:solidFill>
              <a:srgbClr val="FFFFFF"/>
            </a:solidFill>
            <a:prstDash val="solid"/>
          </a:ln>
        </p:spPr>
      </p:sp>
      <p:sp>
        <p:nvSpPr>
          <p:cNvPr id="33" name="Text 23"/>
          <p:cNvSpPr/>
          <p:nvPr/>
        </p:nvSpPr>
        <p:spPr>
          <a:xfrm>
            <a:off x="8174736"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4" name="Shape 24"/>
          <p:cNvSpPr/>
          <p:nvPr/>
        </p:nvSpPr>
        <p:spPr>
          <a:xfrm>
            <a:off x="7296912" y="2468880"/>
            <a:ext cx="2084832" cy="2468880"/>
          </a:xfrm>
          <a:prstGeom prst="roundRect">
            <a:avLst>
              <a:gd name="adj" fmla="val 3509"/>
            </a:avLst>
          </a:prstGeom>
          <a:solidFill>
            <a:srgbClr val="E8EEF7"/>
          </a:solidFill>
          <a:ln/>
          <a:effectLst>
            <a:outerShdw sx="100000" sy="100000" kx="0" ky="0" algn="bl" rotWithShape="0" blurRad="101600" dist="38100" dir="5400000">
              <a:srgbClr val="000000">
                <a:alpha val="12000"/>
              </a:srgbClr>
            </a:outerShdw>
          </a:effectLst>
        </p:spPr>
      </p:sp>
      <p:sp>
        <p:nvSpPr>
          <p:cNvPr id="35" name="Text 25"/>
          <p:cNvSpPr/>
          <p:nvPr/>
        </p:nvSpPr>
        <p:spPr>
          <a:xfrm>
            <a:off x="7434072" y="2606040"/>
            <a:ext cx="1810512" cy="685800"/>
          </a:xfrm>
          <a:prstGeom prst="rect">
            <a:avLst/>
          </a:prstGeom>
          <a:noFill/>
          <a:ln/>
        </p:spPr>
        <p:txBody>
          <a:bodyPr wrap="square" lIns="0" tIns="0" rIns="0" bIns="0" rtlCol="0" anchor="ctr"/>
          <a:lstStyle/>
          <a:p>
            <a:pPr algn="ctr" indent="0" marL="0">
              <a:buNone/>
            </a:pPr>
            <a:r>
              <a:rPr lang="en-US" sz="1400" b="1" dirty="0">
                <a:solidFill>
                  <a:srgbClr val="0B132B"/>
                </a:solidFill>
                <a:latin typeface="Cambria" pitchFamily="34" charset="0"/>
                <a:ea typeface="Cambria" pitchFamily="34" charset="-122"/>
                <a:cs typeface="Cambria" pitchFamily="34" charset="-120"/>
              </a:rPr>
              <a:t>The Hook</a:t>
            </a:r>
            <a:endParaRPr lang="en-US" sz="1400" dirty="0"/>
          </a:p>
        </p:txBody>
      </p:sp>
      <p:sp>
        <p:nvSpPr>
          <p:cNvPr id="36" name="Text 26"/>
          <p:cNvSpPr/>
          <p:nvPr/>
        </p:nvSpPr>
        <p:spPr>
          <a:xfrm>
            <a:off x="7461504" y="3291840"/>
            <a:ext cx="1755648" cy="1508760"/>
          </a:xfrm>
          <a:prstGeom prst="rect">
            <a:avLst/>
          </a:prstGeom>
          <a:noFill/>
          <a:ln/>
        </p:spPr>
        <p:txBody>
          <a:bodyPr wrap="square" lIns="0" tIns="0" rIns="0" bIns="0" rtlCol="0" anchor="t"/>
          <a:lstStyle/>
          <a:p>
            <a:pPr algn="ctr" indent="0" marL="0">
              <a:lnSpc>
                <a:spcPct val="115000"/>
              </a:lnSpc>
              <a:buNone/>
            </a:pPr>
            <a:r>
              <a:rPr lang="en-US" sz="1150" dirty="0">
                <a:solidFill>
                  <a:srgbClr val="14213D"/>
                </a:solidFill>
                <a:latin typeface="Calibri" pitchFamily="34" charset="0"/>
                <a:ea typeface="Calibri" pitchFamily="34" charset="-122"/>
                <a:cs typeface="Calibri" pitchFamily="34" charset="-120"/>
              </a:rPr>
              <a:t>The victim clicks the link, opens the attachment, or types in credentials — the trap is triggered.</a:t>
            </a:r>
            <a:endParaRPr lang="en-US" sz="1150" dirty="0"/>
          </a:p>
        </p:txBody>
      </p:sp>
      <p:pic>
        <p:nvPicPr>
          <p:cNvPr id="37" name="Image 8" descr="icons/arrow_slate.png">    </p:cNvPr>
          <p:cNvPicPr>
            <a:picLocks noChangeAspect="1"/>
          </p:cNvPicPr>
          <p:nvPr/>
        </p:nvPicPr>
        <p:blipFill>
          <a:blip r:embed="rId9"/>
          <a:stretch>
            <a:fillRect/>
          </a:stretch>
        </p:blipFill>
        <p:spPr>
          <a:xfrm>
            <a:off x="9400032" y="1764792"/>
            <a:ext cx="146304" cy="146304"/>
          </a:xfrm>
          <a:prstGeom prst="rect">
            <a:avLst/>
          </a:prstGeom>
        </p:spPr>
      </p:pic>
      <p:sp>
        <p:nvSpPr>
          <p:cNvPr id="38" name="Shape 27"/>
          <p:cNvSpPr/>
          <p:nvPr/>
        </p:nvSpPr>
        <p:spPr>
          <a:xfrm>
            <a:off x="10268712" y="1600200"/>
            <a:ext cx="640080" cy="640080"/>
          </a:xfrm>
          <a:prstGeom prst="ellipse">
            <a:avLst/>
          </a:prstGeom>
          <a:solidFill>
            <a:srgbClr val="E63946"/>
          </a:solidFill>
          <a:ln/>
        </p:spPr>
      </p:sp>
      <p:pic>
        <p:nvPicPr>
          <p:cNvPr id="39" name="Image 9" descr="icons/usersecret_white.png">    </p:cNvPr>
          <p:cNvPicPr>
            <a:picLocks noChangeAspect="1"/>
          </p:cNvPicPr>
          <p:nvPr/>
        </p:nvPicPr>
        <p:blipFill>
          <a:blip r:embed="rId10"/>
          <a:stretch>
            <a:fillRect/>
          </a:stretch>
        </p:blipFill>
        <p:spPr>
          <a:xfrm>
            <a:off x="10409530" y="1741018"/>
            <a:ext cx="358445" cy="358445"/>
          </a:xfrm>
          <a:prstGeom prst="rect">
            <a:avLst/>
          </a:prstGeom>
        </p:spPr>
      </p:pic>
      <p:sp>
        <p:nvSpPr>
          <p:cNvPr id="40" name="Shape 28"/>
          <p:cNvSpPr/>
          <p:nvPr/>
        </p:nvSpPr>
        <p:spPr>
          <a:xfrm>
            <a:off x="10424160" y="1490472"/>
            <a:ext cx="329184" cy="329184"/>
          </a:xfrm>
          <a:prstGeom prst="ellipse">
            <a:avLst/>
          </a:prstGeom>
          <a:solidFill>
            <a:srgbClr val="1FA39A"/>
          </a:solidFill>
          <a:ln w="19050">
            <a:solidFill>
              <a:srgbClr val="FFFFFF"/>
            </a:solidFill>
            <a:prstDash val="solid"/>
          </a:ln>
        </p:spPr>
      </p:sp>
      <p:sp>
        <p:nvSpPr>
          <p:cNvPr id="41" name="Text 29"/>
          <p:cNvSpPr/>
          <p:nvPr/>
        </p:nvSpPr>
        <p:spPr>
          <a:xfrm>
            <a:off x="10424160"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2" name="Shape 30"/>
          <p:cNvSpPr/>
          <p:nvPr/>
        </p:nvSpPr>
        <p:spPr>
          <a:xfrm>
            <a:off x="9546336" y="2468880"/>
            <a:ext cx="2084832" cy="2468880"/>
          </a:xfrm>
          <a:prstGeom prst="roundRect">
            <a:avLst>
              <a:gd name="adj" fmla="val 3509"/>
            </a:avLst>
          </a:prstGeom>
          <a:solidFill>
            <a:srgbClr val="E8EEF7"/>
          </a:solidFill>
          <a:ln/>
          <a:effectLst>
            <a:outerShdw sx="100000" sy="100000" kx="0" ky="0" algn="bl" rotWithShape="0" blurRad="101600" dist="38100" dir="5400000">
              <a:srgbClr val="000000">
                <a:alpha val="12000"/>
              </a:srgbClr>
            </a:outerShdw>
          </a:effectLst>
        </p:spPr>
      </p:sp>
      <p:sp>
        <p:nvSpPr>
          <p:cNvPr id="43" name="Text 31"/>
          <p:cNvSpPr/>
          <p:nvPr/>
        </p:nvSpPr>
        <p:spPr>
          <a:xfrm>
            <a:off x="9683496" y="2606040"/>
            <a:ext cx="1810512" cy="685800"/>
          </a:xfrm>
          <a:prstGeom prst="rect">
            <a:avLst/>
          </a:prstGeom>
          <a:noFill/>
          <a:ln/>
        </p:spPr>
        <p:txBody>
          <a:bodyPr wrap="square" lIns="0" tIns="0" rIns="0" bIns="0" rtlCol="0" anchor="ctr"/>
          <a:lstStyle/>
          <a:p>
            <a:pPr algn="ctr" indent="0" marL="0">
              <a:buNone/>
            </a:pPr>
            <a:r>
              <a:rPr lang="en-US" sz="1400" b="1" dirty="0">
                <a:solidFill>
                  <a:srgbClr val="0B132B"/>
                </a:solidFill>
                <a:latin typeface="Cambria" pitchFamily="34" charset="0"/>
                <a:ea typeface="Cambria" pitchFamily="34" charset="-122"/>
                <a:cs typeface="Cambria" pitchFamily="34" charset="-120"/>
              </a:rPr>
              <a:t>Exploitation</a:t>
            </a:r>
            <a:endParaRPr lang="en-US" sz="1400" dirty="0"/>
          </a:p>
        </p:txBody>
      </p:sp>
      <p:sp>
        <p:nvSpPr>
          <p:cNvPr id="44" name="Text 32"/>
          <p:cNvSpPr/>
          <p:nvPr/>
        </p:nvSpPr>
        <p:spPr>
          <a:xfrm>
            <a:off x="9710928" y="3291840"/>
            <a:ext cx="1755648" cy="1508760"/>
          </a:xfrm>
          <a:prstGeom prst="rect">
            <a:avLst/>
          </a:prstGeom>
          <a:noFill/>
          <a:ln/>
        </p:spPr>
        <p:txBody>
          <a:bodyPr wrap="square" lIns="0" tIns="0" rIns="0" bIns="0" rtlCol="0" anchor="t"/>
          <a:lstStyle/>
          <a:p>
            <a:pPr algn="ctr" indent="0" marL="0">
              <a:lnSpc>
                <a:spcPct val="115000"/>
              </a:lnSpc>
              <a:buNone/>
            </a:pPr>
            <a:r>
              <a:rPr lang="en-US" sz="1150" dirty="0">
                <a:solidFill>
                  <a:srgbClr val="14213D"/>
                </a:solidFill>
                <a:latin typeface="Calibri" pitchFamily="34" charset="0"/>
                <a:ea typeface="Calibri" pitchFamily="34" charset="-122"/>
                <a:cs typeface="Calibri" pitchFamily="34" charset="-120"/>
              </a:rPr>
              <a:t>Stolen data or access is used for fraud, identity theft, further attacks, or sold on to others.</a:t>
            </a:r>
            <a:endParaRPr lang="en-US" sz="1150" dirty="0"/>
          </a:p>
        </p:txBody>
      </p:sp>
      <p:sp>
        <p:nvSpPr>
          <p:cNvPr id="45" name="Text 33"/>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46" name="Text 34"/>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3A506B"/>
          </a:solidFill>
          <a:ln/>
        </p:spPr>
      </p:sp>
      <p:pic>
        <p:nvPicPr>
          <p:cNvPr id="3" name="Image 0" descr="icons/crosshairs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3A506B"/>
                </a:solidFill>
                <a:latin typeface="Calibri" pitchFamily="34" charset="0"/>
                <a:ea typeface="Calibri" pitchFamily="34" charset="-122"/>
                <a:cs typeface="Calibri" pitchFamily="34" charset="-120"/>
              </a:rPr>
              <a:t>KNOW THE VARIANTS</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Types of Phishing</a:t>
            </a:r>
            <a:endParaRPr lang="en-US" sz="3000" dirty="0"/>
          </a:p>
        </p:txBody>
      </p:sp>
      <p:sp>
        <p:nvSpPr>
          <p:cNvPr id="6" name="Shape 3"/>
          <p:cNvSpPr/>
          <p:nvPr/>
        </p:nvSpPr>
        <p:spPr>
          <a:xfrm>
            <a:off x="548640" y="150876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7" name="Shape 4"/>
          <p:cNvSpPr/>
          <p:nvPr/>
        </p:nvSpPr>
        <p:spPr>
          <a:xfrm>
            <a:off x="548640" y="1508760"/>
            <a:ext cx="3611880" cy="1965960"/>
          </a:xfrm>
          <a:prstGeom prst="rect">
            <a:avLst/>
          </a:prstGeom>
          <a:ln w="12700">
            <a:solidFill>
              <a:srgbClr val="D7E0EE"/>
            </a:solidFill>
            <a:prstDash val="solid"/>
          </a:ln>
        </p:spPr>
      </p:sp>
      <p:sp>
        <p:nvSpPr>
          <p:cNvPr id="8" name="Shape 5"/>
          <p:cNvSpPr/>
          <p:nvPr/>
        </p:nvSpPr>
        <p:spPr>
          <a:xfrm>
            <a:off x="731520" y="1691640"/>
            <a:ext cx="502920" cy="502920"/>
          </a:xfrm>
          <a:prstGeom prst="ellipse">
            <a:avLst/>
          </a:prstGeom>
          <a:solidFill>
            <a:srgbClr val="0B132B"/>
          </a:solidFill>
          <a:ln/>
        </p:spPr>
      </p:sp>
      <p:pic>
        <p:nvPicPr>
          <p:cNvPr id="9" name="Image 1" descr="icons/envelope2_white.png">    </p:cNvPr>
          <p:cNvPicPr>
            <a:picLocks noChangeAspect="1"/>
          </p:cNvPicPr>
          <p:nvPr/>
        </p:nvPicPr>
        <p:blipFill>
          <a:blip r:embed="rId2"/>
          <a:stretch>
            <a:fillRect/>
          </a:stretch>
        </p:blipFill>
        <p:spPr>
          <a:xfrm>
            <a:off x="842162" y="1802282"/>
            <a:ext cx="281635" cy="281635"/>
          </a:xfrm>
          <a:prstGeom prst="rect">
            <a:avLst/>
          </a:prstGeom>
        </p:spPr>
      </p:pic>
      <p:sp>
        <p:nvSpPr>
          <p:cNvPr id="10" name="Text 6"/>
          <p:cNvSpPr/>
          <p:nvPr/>
        </p:nvSpPr>
        <p:spPr>
          <a:xfrm>
            <a:off x="1371600" y="169164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Email Phishing</a:t>
            </a:r>
            <a:endParaRPr lang="en-US" sz="1500" dirty="0"/>
          </a:p>
        </p:txBody>
      </p:sp>
      <p:sp>
        <p:nvSpPr>
          <p:cNvPr id="11" name="Text 7"/>
          <p:cNvSpPr/>
          <p:nvPr/>
        </p:nvSpPr>
        <p:spPr>
          <a:xfrm>
            <a:off x="731520" y="228600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Mass, generic fraudulent emails impersonating banks, retailers, or services, sent to thousands of people at once.</a:t>
            </a:r>
            <a:endParaRPr lang="en-US" sz="1150" dirty="0"/>
          </a:p>
        </p:txBody>
      </p:sp>
      <p:sp>
        <p:nvSpPr>
          <p:cNvPr id="12" name="Shape 8"/>
          <p:cNvSpPr/>
          <p:nvPr/>
        </p:nvSpPr>
        <p:spPr>
          <a:xfrm>
            <a:off x="4325112" y="150876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13" name="Shape 9"/>
          <p:cNvSpPr/>
          <p:nvPr/>
        </p:nvSpPr>
        <p:spPr>
          <a:xfrm>
            <a:off x="4325112" y="1508760"/>
            <a:ext cx="3611880" cy="1965960"/>
          </a:xfrm>
          <a:prstGeom prst="rect">
            <a:avLst/>
          </a:prstGeom>
          <a:ln w="12700">
            <a:solidFill>
              <a:srgbClr val="D7E0EE"/>
            </a:solidFill>
            <a:prstDash val="solid"/>
          </a:ln>
        </p:spPr>
      </p:sp>
      <p:sp>
        <p:nvSpPr>
          <p:cNvPr id="14" name="Shape 10"/>
          <p:cNvSpPr/>
          <p:nvPr/>
        </p:nvSpPr>
        <p:spPr>
          <a:xfrm>
            <a:off x="4507992" y="1691640"/>
            <a:ext cx="502920" cy="502920"/>
          </a:xfrm>
          <a:prstGeom prst="ellipse">
            <a:avLst/>
          </a:prstGeom>
          <a:solidFill>
            <a:srgbClr val="0B132B"/>
          </a:solidFill>
          <a:ln/>
        </p:spPr>
      </p:sp>
      <p:pic>
        <p:nvPicPr>
          <p:cNvPr id="15" name="Image 2" descr="icons/crosshairs_white.png">    </p:cNvPr>
          <p:cNvPicPr>
            <a:picLocks noChangeAspect="1"/>
          </p:cNvPicPr>
          <p:nvPr/>
        </p:nvPicPr>
        <p:blipFill>
          <a:blip r:embed="rId3"/>
          <a:stretch>
            <a:fillRect/>
          </a:stretch>
        </p:blipFill>
        <p:spPr>
          <a:xfrm>
            <a:off x="4618634" y="1802282"/>
            <a:ext cx="281635" cy="281635"/>
          </a:xfrm>
          <a:prstGeom prst="rect">
            <a:avLst/>
          </a:prstGeom>
        </p:spPr>
      </p:pic>
      <p:sp>
        <p:nvSpPr>
          <p:cNvPr id="16" name="Text 11"/>
          <p:cNvSpPr/>
          <p:nvPr/>
        </p:nvSpPr>
        <p:spPr>
          <a:xfrm>
            <a:off x="5148072" y="169164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Spear Phishing</a:t>
            </a:r>
            <a:endParaRPr lang="en-US" sz="1500" dirty="0"/>
          </a:p>
        </p:txBody>
      </p:sp>
      <p:sp>
        <p:nvSpPr>
          <p:cNvPr id="17" name="Text 12"/>
          <p:cNvSpPr/>
          <p:nvPr/>
        </p:nvSpPr>
        <p:spPr>
          <a:xfrm>
            <a:off x="4507992" y="228600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Highly targeted attacks aimed at one specific person or organization, personalized using researched details.</a:t>
            </a:r>
            <a:endParaRPr lang="en-US" sz="1150" dirty="0"/>
          </a:p>
        </p:txBody>
      </p:sp>
      <p:sp>
        <p:nvSpPr>
          <p:cNvPr id="18" name="Shape 13"/>
          <p:cNvSpPr/>
          <p:nvPr/>
        </p:nvSpPr>
        <p:spPr>
          <a:xfrm>
            <a:off x="8101584" y="150876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19" name="Shape 14"/>
          <p:cNvSpPr/>
          <p:nvPr/>
        </p:nvSpPr>
        <p:spPr>
          <a:xfrm>
            <a:off x="8101584" y="1508760"/>
            <a:ext cx="3611880" cy="1965960"/>
          </a:xfrm>
          <a:prstGeom prst="rect">
            <a:avLst/>
          </a:prstGeom>
          <a:ln w="12700">
            <a:solidFill>
              <a:srgbClr val="D7E0EE"/>
            </a:solidFill>
            <a:prstDash val="solid"/>
          </a:ln>
        </p:spPr>
      </p:sp>
      <p:sp>
        <p:nvSpPr>
          <p:cNvPr id="20" name="Shape 15"/>
          <p:cNvSpPr/>
          <p:nvPr/>
        </p:nvSpPr>
        <p:spPr>
          <a:xfrm>
            <a:off x="8284464" y="1691640"/>
            <a:ext cx="502920" cy="502920"/>
          </a:xfrm>
          <a:prstGeom prst="ellipse">
            <a:avLst/>
          </a:prstGeom>
          <a:solidFill>
            <a:srgbClr val="0B132B"/>
          </a:solidFill>
          <a:ln/>
        </p:spPr>
      </p:sp>
      <p:pic>
        <p:nvPicPr>
          <p:cNvPr id="21" name="Image 3" descr="icons/mobile_white.png">    </p:cNvPr>
          <p:cNvPicPr>
            <a:picLocks noChangeAspect="1"/>
          </p:cNvPicPr>
          <p:nvPr/>
        </p:nvPicPr>
        <p:blipFill>
          <a:blip r:embed="rId4"/>
          <a:stretch>
            <a:fillRect/>
          </a:stretch>
        </p:blipFill>
        <p:spPr>
          <a:xfrm>
            <a:off x="8395106" y="1802282"/>
            <a:ext cx="281635" cy="281635"/>
          </a:xfrm>
          <a:prstGeom prst="rect">
            <a:avLst/>
          </a:prstGeom>
        </p:spPr>
      </p:pic>
      <p:sp>
        <p:nvSpPr>
          <p:cNvPr id="22" name="Text 16"/>
          <p:cNvSpPr/>
          <p:nvPr/>
        </p:nvSpPr>
        <p:spPr>
          <a:xfrm>
            <a:off x="8924544" y="169164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Smishing (SMS)</a:t>
            </a:r>
            <a:endParaRPr lang="en-US" sz="1500" dirty="0"/>
          </a:p>
        </p:txBody>
      </p:sp>
      <p:sp>
        <p:nvSpPr>
          <p:cNvPr id="23" name="Text 17"/>
          <p:cNvSpPr/>
          <p:nvPr/>
        </p:nvSpPr>
        <p:spPr>
          <a:xfrm>
            <a:off x="8284464" y="228600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Phishing delivered via text message, often with a shortened malicious link and urgent delivery or banking alert.</a:t>
            </a:r>
            <a:endParaRPr lang="en-US" sz="1150" dirty="0"/>
          </a:p>
        </p:txBody>
      </p:sp>
      <p:sp>
        <p:nvSpPr>
          <p:cNvPr id="24" name="Shape 18"/>
          <p:cNvSpPr/>
          <p:nvPr/>
        </p:nvSpPr>
        <p:spPr>
          <a:xfrm>
            <a:off x="548640" y="370332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25" name="Shape 19"/>
          <p:cNvSpPr/>
          <p:nvPr/>
        </p:nvSpPr>
        <p:spPr>
          <a:xfrm>
            <a:off x="548640" y="3703320"/>
            <a:ext cx="3611880" cy="1965960"/>
          </a:xfrm>
          <a:prstGeom prst="rect">
            <a:avLst/>
          </a:prstGeom>
          <a:ln w="12700">
            <a:solidFill>
              <a:srgbClr val="D7E0EE"/>
            </a:solidFill>
            <a:prstDash val="solid"/>
          </a:ln>
        </p:spPr>
      </p:sp>
      <p:sp>
        <p:nvSpPr>
          <p:cNvPr id="26" name="Shape 20"/>
          <p:cNvSpPr/>
          <p:nvPr/>
        </p:nvSpPr>
        <p:spPr>
          <a:xfrm>
            <a:off x="731520" y="3886200"/>
            <a:ext cx="502920" cy="502920"/>
          </a:xfrm>
          <a:prstGeom prst="ellipse">
            <a:avLst/>
          </a:prstGeom>
          <a:solidFill>
            <a:srgbClr val="0B132B"/>
          </a:solidFill>
          <a:ln/>
        </p:spPr>
      </p:sp>
      <p:pic>
        <p:nvPicPr>
          <p:cNvPr id="27" name="Image 4" descr="icons/phone_white.png">    </p:cNvPr>
          <p:cNvPicPr>
            <a:picLocks noChangeAspect="1"/>
          </p:cNvPicPr>
          <p:nvPr/>
        </p:nvPicPr>
        <p:blipFill>
          <a:blip r:embed="rId5"/>
          <a:stretch>
            <a:fillRect/>
          </a:stretch>
        </p:blipFill>
        <p:spPr>
          <a:xfrm>
            <a:off x="842162" y="3996842"/>
            <a:ext cx="281635" cy="281635"/>
          </a:xfrm>
          <a:prstGeom prst="rect">
            <a:avLst/>
          </a:prstGeom>
        </p:spPr>
      </p:pic>
      <p:sp>
        <p:nvSpPr>
          <p:cNvPr id="28" name="Text 21"/>
          <p:cNvSpPr/>
          <p:nvPr/>
        </p:nvSpPr>
        <p:spPr>
          <a:xfrm>
            <a:off x="1371600" y="388620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Vishing (Voice)</a:t>
            </a:r>
            <a:endParaRPr lang="en-US" sz="1500" dirty="0"/>
          </a:p>
        </p:txBody>
      </p:sp>
      <p:sp>
        <p:nvSpPr>
          <p:cNvPr id="29" name="Text 22"/>
          <p:cNvSpPr/>
          <p:nvPr/>
        </p:nvSpPr>
        <p:spPr>
          <a:xfrm>
            <a:off x="731520" y="448056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Phone calls from someone posing as a bank, government agency, or tech support to extract information verbally.</a:t>
            </a:r>
            <a:endParaRPr lang="en-US" sz="1150" dirty="0"/>
          </a:p>
        </p:txBody>
      </p:sp>
      <p:sp>
        <p:nvSpPr>
          <p:cNvPr id="30" name="Shape 23"/>
          <p:cNvSpPr/>
          <p:nvPr/>
        </p:nvSpPr>
        <p:spPr>
          <a:xfrm>
            <a:off x="4325112" y="370332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31" name="Shape 24"/>
          <p:cNvSpPr/>
          <p:nvPr/>
        </p:nvSpPr>
        <p:spPr>
          <a:xfrm>
            <a:off x="4325112" y="3703320"/>
            <a:ext cx="3611880" cy="1965960"/>
          </a:xfrm>
          <a:prstGeom prst="rect">
            <a:avLst/>
          </a:prstGeom>
          <a:ln w="12700">
            <a:solidFill>
              <a:srgbClr val="D7E0EE"/>
            </a:solidFill>
            <a:prstDash val="solid"/>
          </a:ln>
        </p:spPr>
      </p:sp>
      <p:sp>
        <p:nvSpPr>
          <p:cNvPr id="32" name="Shape 25"/>
          <p:cNvSpPr/>
          <p:nvPr/>
        </p:nvSpPr>
        <p:spPr>
          <a:xfrm>
            <a:off x="4507992" y="3886200"/>
            <a:ext cx="502920" cy="502920"/>
          </a:xfrm>
          <a:prstGeom prst="ellipse">
            <a:avLst/>
          </a:prstGeom>
          <a:solidFill>
            <a:srgbClr val="0B132B"/>
          </a:solidFill>
          <a:ln/>
        </p:spPr>
      </p:sp>
      <p:pic>
        <p:nvPicPr>
          <p:cNvPr id="33" name="Image 5" descr="icons/clone_white.png">    </p:cNvPr>
          <p:cNvPicPr>
            <a:picLocks noChangeAspect="1"/>
          </p:cNvPicPr>
          <p:nvPr/>
        </p:nvPicPr>
        <p:blipFill>
          <a:blip r:embed="rId6"/>
          <a:stretch>
            <a:fillRect/>
          </a:stretch>
        </p:blipFill>
        <p:spPr>
          <a:xfrm>
            <a:off x="4618634" y="3996842"/>
            <a:ext cx="281635" cy="281635"/>
          </a:xfrm>
          <a:prstGeom prst="rect">
            <a:avLst/>
          </a:prstGeom>
        </p:spPr>
      </p:pic>
      <p:sp>
        <p:nvSpPr>
          <p:cNvPr id="34" name="Text 26"/>
          <p:cNvSpPr/>
          <p:nvPr/>
        </p:nvSpPr>
        <p:spPr>
          <a:xfrm>
            <a:off x="5148072" y="388620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Clone Phishing</a:t>
            </a:r>
            <a:endParaRPr lang="en-US" sz="1500" dirty="0"/>
          </a:p>
        </p:txBody>
      </p:sp>
      <p:sp>
        <p:nvSpPr>
          <p:cNvPr id="35" name="Text 27"/>
          <p:cNvSpPr/>
          <p:nvPr/>
        </p:nvSpPr>
        <p:spPr>
          <a:xfrm>
            <a:off x="4507992" y="448056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A near-identical copy of a previously sent legitimate email, with the link or attachment swapped for a malicious one.</a:t>
            </a:r>
            <a:endParaRPr lang="en-US" sz="1150" dirty="0"/>
          </a:p>
        </p:txBody>
      </p:sp>
      <p:sp>
        <p:nvSpPr>
          <p:cNvPr id="36" name="Shape 28"/>
          <p:cNvSpPr/>
          <p:nvPr/>
        </p:nvSpPr>
        <p:spPr>
          <a:xfrm>
            <a:off x="8101584" y="3703320"/>
            <a:ext cx="3611880" cy="1965960"/>
          </a:xfrm>
          <a:prstGeom prst="roundRect">
            <a:avLst>
              <a:gd name="adj" fmla="val 3721"/>
            </a:avLst>
          </a:prstGeom>
          <a:solidFill>
            <a:srgbClr val="FFFFFF"/>
          </a:solidFill>
          <a:ln/>
          <a:effectLst>
            <a:outerShdw sx="100000" sy="100000" kx="0" ky="0" algn="bl" rotWithShape="0" blurRad="101600" dist="38100" dir="5400000">
              <a:srgbClr val="000000">
                <a:alpha val="12000"/>
              </a:srgbClr>
            </a:outerShdw>
          </a:effectLst>
        </p:spPr>
      </p:sp>
      <p:sp>
        <p:nvSpPr>
          <p:cNvPr id="37" name="Shape 29"/>
          <p:cNvSpPr/>
          <p:nvPr/>
        </p:nvSpPr>
        <p:spPr>
          <a:xfrm>
            <a:off x="8101584" y="3703320"/>
            <a:ext cx="3611880" cy="1965960"/>
          </a:xfrm>
          <a:prstGeom prst="rect">
            <a:avLst/>
          </a:prstGeom>
          <a:ln w="12700">
            <a:solidFill>
              <a:srgbClr val="D7E0EE"/>
            </a:solidFill>
            <a:prstDash val="solid"/>
          </a:ln>
        </p:spPr>
      </p:sp>
      <p:sp>
        <p:nvSpPr>
          <p:cNvPr id="38" name="Shape 30"/>
          <p:cNvSpPr/>
          <p:nvPr/>
        </p:nvSpPr>
        <p:spPr>
          <a:xfrm>
            <a:off x="8284464" y="3886200"/>
            <a:ext cx="502920" cy="502920"/>
          </a:xfrm>
          <a:prstGeom prst="ellipse">
            <a:avLst/>
          </a:prstGeom>
          <a:solidFill>
            <a:srgbClr val="0B132B"/>
          </a:solidFill>
          <a:ln/>
        </p:spPr>
      </p:sp>
      <p:pic>
        <p:nvPicPr>
          <p:cNvPr id="39" name="Image 6" descr="icons/crown_white.png">    </p:cNvPr>
          <p:cNvPicPr>
            <a:picLocks noChangeAspect="1"/>
          </p:cNvPicPr>
          <p:nvPr/>
        </p:nvPicPr>
        <p:blipFill>
          <a:blip r:embed="rId7"/>
          <a:stretch>
            <a:fillRect/>
          </a:stretch>
        </p:blipFill>
        <p:spPr>
          <a:xfrm>
            <a:off x="8395106" y="3996842"/>
            <a:ext cx="281635" cy="281635"/>
          </a:xfrm>
          <a:prstGeom prst="rect">
            <a:avLst/>
          </a:prstGeom>
        </p:spPr>
      </p:pic>
      <p:sp>
        <p:nvSpPr>
          <p:cNvPr id="40" name="Text 31"/>
          <p:cNvSpPr/>
          <p:nvPr/>
        </p:nvSpPr>
        <p:spPr>
          <a:xfrm>
            <a:off x="8924544" y="3886200"/>
            <a:ext cx="2606040" cy="502920"/>
          </a:xfrm>
          <a:prstGeom prst="rect">
            <a:avLst/>
          </a:prstGeom>
          <a:noFill/>
          <a:ln/>
        </p:spPr>
        <p:txBody>
          <a:bodyPr wrap="square" lIns="0" tIns="0" rIns="0" bIns="0" rtlCol="0" anchor="ctr"/>
          <a:lstStyle/>
          <a:p>
            <a:pPr indent="0" marL="0">
              <a:buNone/>
            </a:pPr>
            <a:r>
              <a:rPr lang="en-US" sz="1500" b="1" dirty="0">
                <a:solidFill>
                  <a:srgbClr val="0B132B"/>
                </a:solidFill>
                <a:latin typeface="Cambria" pitchFamily="34" charset="0"/>
                <a:ea typeface="Cambria" pitchFamily="34" charset="-122"/>
                <a:cs typeface="Cambria" pitchFamily="34" charset="-120"/>
              </a:rPr>
              <a:t>Whaling</a:t>
            </a:r>
            <a:endParaRPr lang="en-US" sz="1500" dirty="0"/>
          </a:p>
        </p:txBody>
      </p:sp>
      <p:sp>
        <p:nvSpPr>
          <p:cNvPr id="41" name="Text 32"/>
          <p:cNvSpPr/>
          <p:nvPr/>
        </p:nvSpPr>
        <p:spPr>
          <a:xfrm>
            <a:off x="8284464" y="4480560"/>
            <a:ext cx="3246120" cy="1051560"/>
          </a:xfrm>
          <a:prstGeom prst="rect">
            <a:avLst/>
          </a:prstGeom>
          <a:noFill/>
          <a:ln/>
        </p:spPr>
        <p:txBody>
          <a:bodyPr wrap="square" lIns="0" tIns="0" rIns="0" bIns="0" rtlCol="0" anchor="ctr"/>
          <a:lstStyle/>
          <a:p>
            <a:pPr indent="0" marL="0">
              <a:lnSpc>
                <a:spcPct val="112000"/>
              </a:lnSpc>
              <a:buNone/>
            </a:pPr>
            <a:r>
              <a:rPr lang="en-US" sz="1150" dirty="0">
                <a:solidFill>
                  <a:srgbClr val="14213D"/>
                </a:solidFill>
                <a:latin typeface="Calibri" pitchFamily="34" charset="0"/>
                <a:ea typeface="Calibri" pitchFamily="34" charset="-122"/>
                <a:cs typeface="Calibri" pitchFamily="34" charset="-120"/>
              </a:rPr>
              <a:t>Spear phishing aimed at senior executives or high-profile individuals to authorize large payments or data access.</a:t>
            </a:r>
            <a:endParaRPr lang="en-US" sz="1150" dirty="0"/>
          </a:p>
        </p:txBody>
      </p:sp>
      <p:sp>
        <p:nvSpPr>
          <p:cNvPr id="42" name="Text 33"/>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43" name="Text 34"/>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E63946"/>
          </a:solidFill>
          <a:ln/>
        </p:spPr>
      </p:sp>
      <p:pic>
        <p:nvPicPr>
          <p:cNvPr id="3" name="Image 0" descr="icons/warning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E63946"/>
                </a:solidFill>
                <a:latin typeface="Calibri" pitchFamily="34" charset="0"/>
                <a:ea typeface="Calibri" pitchFamily="34" charset="-122"/>
                <a:cs typeface="Calibri" pitchFamily="34" charset="-120"/>
              </a:rPr>
              <a:t>SPOT THE RED FLAGS</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Signs of Phishing Emails</a:t>
            </a:r>
            <a:endParaRPr lang="en-US" sz="3000" dirty="0"/>
          </a:p>
        </p:txBody>
      </p:sp>
      <p:sp>
        <p:nvSpPr>
          <p:cNvPr id="6" name="Text 3"/>
          <p:cNvSpPr/>
          <p:nvPr/>
        </p:nvSpPr>
        <p:spPr>
          <a:xfrm>
            <a:off x="548640" y="1188720"/>
            <a:ext cx="5486400" cy="274320"/>
          </a:xfrm>
          <a:prstGeom prst="rect">
            <a:avLst/>
          </a:prstGeom>
          <a:noFill/>
          <a:ln/>
        </p:spPr>
        <p:txBody>
          <a:bodyPr wrap="square" lIns="0" tIns="0" rIns="0" bIns="0" rtlCol="0" anchor="ctr"/>
          <a:lstStyle/>
          <a:p>
            <a:pPr indent="0" marL="0">
              <a:buNone/>
            </a:pPr>
            <a:r>
              <a:rPr lang="en-US" sz="1300" b="1" dirty="0">
                <a:solidFill>
                  <a:srgbClr val="0B132B"/>
                </a:solidFill>
                <a:latin typeface="Calibri" pitchFamily="34" charset="0"/>
                <a:ea typeface="Calibri" pitchFamily="34" charset="-122"/>
                <a:cs typeface="Calibri" pitchFamily="34" charset="-120"/>
              </a:rPr>
              <a:t>Common Warning Signs</a:t>
            </a:r>
            <a:endParaRPr lang="en-US" sz="1300" dirty="0"/>
          </a:p>
        </p:txBody>
      </p:sp>
      <p:pic>
        <p:nvPicPr>
          <p:cNvPr id="7" name="Image 1" descr="icons/warning_red.png">    </p:cNvPr>
          <p:cNvPicPr>
            <a:picLocks noChangeAspect="1"/>
          </p:cNvPicPr>
          <p:nvPr/>
        </p:nvPicPr>
        <p:blipFill>
          <a:blip r:embed="rId2"/>
          <a:stretch>
            <a:fillRect/>
          </a:stretch>
        </p:blipFill>
        <p:spPr>
          <a:xfrm>
            <a:off x="548640" y="1481328"/>
            <a:ext cx="237744" cy="237744"/>
          </a:xfrm>
          <a:prstGeom prst="rect">
            <a:avLst/>
          </a:prstGeom>
        </p:spPr>
      </p:pic>
      <p:sp>
        <p:nvSpPr>
          <p:cNvPr id="8" name="Text 4"/>
          <p:cNvSpPr/>
          <p:nvPr/>
        </p:nvSpPr>
        <p:spPr>
          <a:xfrm>
            <a:off x="914400" y="1399032"/>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Generic greetings such as “Dear Customer” instead of your real name</a:t>
            </a:r>
            <a:endParaRPr lang="en-US" sz="1250" dirty="0"/>
          </a:p>
        </p:txBody>
      </p:sp>
      <p:pic>
        <p:nvPicPr>
          <p:cNvPr id="9" name="Image 2" descr="icons/warning_red.png">    </p:cNvPr>
          <p:cNvPicPr>
            <a:picLocks noChangeAspect="1"/>
          </p:cNvPicPr>
          <p:nvPr/>
        </p:nvPicPr>
        <p:blipFill>
          <a:blip r:embed="rId3"/>
          <a:stretch>
            <a:fillRect/>
          </a:stretch>
        </p:blipFill>
        <p:spPr>
          <a:xfrm>
            <a:off x="548640" y="2048256"/>
            <a:ext cx="237744" cy="237744"/>
          </a:xfrm>
          <a:prstGeom prst="rect">
            <a:avLst/>
          </a:prstGeom>
        </p:spPr>
      </p:pic>
      <p:sp>
        <p:nvSpPr>
          <p:cNvPr id="10" name="Text 5"/>
          <p:cNvSpPr/>
          <p:nvPr/>
        </p:nvSpPr>
        <p:spPr>
          <a:xfrm>
            <a:off x="914400" y="1965960"/>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Urgent or threatening language demanding immediate action</a:t>
            </a:r>
            <a:endParaRPr lang="en-US" sz="1250" dirty="0"/>
          </a:p>
        </p:txBody>
      </p:sp>
      <p:pic>
        <p:nvPicPr>
          <p:cNvPr id="11" name="Image 3" descr="icons/warning_red.png">    </p:cNvPr>
          <p:cNvPicPr>
            <a:picLocks noChangeAspect="1"/>
          </p:cNvPicPr>
          <p:nvPr/>
        </p:nvPicPr>
        <p:blipFill>
          <a:blip r:embed="rId4"/>
          <a:stretch>
            <a:fillRect/>
          </a:stretch>
        </p:blipFill>
        <p:spPr>
          <a:xfrm>
            <a:off x="548640" y="2615184"/>
            <a:ext cx="237744" cy="237744"/>
          </a:xfrm>
          <a:prstGeom prst="rect">
            <a:avLst/>
          </a:prstGeom>
        </p:spPr>
      </p:pic>
      <p:sp>
        <p:nvSpPr>
          <p:cNvPr id="12" name="Text 6"/>
          <p:cNvSpPr/>
          <p:nvPr/>
        </p:nvSpPr>
        <p:spPr>
          <a:xfrm>
            <a:off x="914400" y="2532888"/>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Sender address that looks close to — but not exactly — the real domain</a:t>
            </a:r>
            <a:endParaRPr lang="en-US" sz="1250" dirty="0"/>
          </a:p>
        </p:txBody>
      </p:sp>
      <p:pic>
        <p:nvPicPr>
          <p:cNvPr id="13" name="Image 4" descr="icons/warning_red.png">    </p:cNvPr>
          <p:cNvPicPr>
            <a:picLocks noChangeAspect="1"/>
          </p:cNvPicPr>
          <p:nvPr/>
        </p:nvPicPr>
        <p:blipFill>
          <a:blip r:embed="rId5"/>
          <a:stretch>
            <a:fillRect/>
          </a:stretch>
        </p:blipFill>
        <p:spPr>
          <a:xfrm>
            <a:off x="548640" y="3182112"/>
            <a:ext cx="237744" cy="237744"/>
          </a:xfrm>
          <a:prstGeom prst="rect">
            <a:avLst/>
          </a:prstGeom>
        </p:spPr>
      </p:pic>
      <p:sp>
        <p:nvSpPr>
          <p:cNvPr id="14" name="Text 7"/>
          <p:cNvSpPr/>
          <p:nvPr/>
        </p:nvSpPr>
        <p:spPr>
          <a:xfrm>
            <a:off x="914400" y="3099816"/>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Spelling, grammar, or formatting mistakes in the message</a:t>
            </a:r>
            <a:endParaRPr lang="en-US" sz="1250" dirty="0"/>
          </a:p>
        </p:txBody>
      </p:sp>
      <p:pic>
        <p:nvPicPr>
          <p:cNvPr id="15" name="Image 5" descr="icons/warning_red.png">    </p:cNvPr>
          <p:cNvPicPr>
            <a:picLocks noChangeAspect="1"/>
          </p:cNvPicPr>
          <p:nvPr/>
        </p:nvPicPr>
        <p:blipFill>
          <a:blip r:embed="rId6"/>
          <a:stretch>
            <a:fillRect/>
          </a:stretch>
        </p:blipFill>
        <p:spPr>
          <a:xfrm>
            <a:off x="548640" y="3749040"/>
            <a:ext cx="237744" cy="237744"/>
          </a:xfrm>
          <a:prstGeom prst="rect">
            <a:avLst/>
          </a:prstGeom>
        </p:spPr>
      </p:pic>
      <p:sp>
        <p:nvSpPr>
          <p:cNvPr id="16" name="Text 8"/>
          <p:cNvSpPr/>
          <p:nvPr/>
        </p:nvSpPr>
        <p:spPr>
          <a:xfrm>
            <a:off x="914400" y="3666744"/>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Links where the visible text doesn’t match the actual destination URL</a:t>
            </a:r>
            <a:endParaRPr lang="en-US" sz="1250" dirty="0"/>
          </a:p>
        </p:txBody>
      </p:sp>
      <p:pic>
        <p:nvPicPr>
          <p:cNvPr id="17" name="Image 6" descr="icons/warning_red.png">    </p:cNvPr>
          <p:cNvPicPr>
            <a:picLocks noChangeAspect="1"/>
          </p:cNvPicPr>
          <p:nvPr/>
        </p:nvPicPr>
        <p:blipFill>
          <a:blip r:embed="rId7"/>
          <a:stretch>
            <a:fillRect/>
          </a:stretch>
        </p:blipFill>
        <p:spPr>
          <a:xfrm>
            <a:off x="548640" y="4315968"/>
            <a:ext cx="237744" cy="237744"/>
          </a:xfrm>
          <a:prstGeom prst="rect">
            <a:avLst/>
          </a:prstGeom>
        </p:spPr>
      </p:pic>
      <p:sp>
        <p:nvSpPr>
          <p:cNvPr id="18" name="Text 9"/>
          <p:cNvSpPr/>
          <p:nvPr/>
        </p:nvSpPr>
        <p:spPr>
          <a:xfrm>
            <a:off x="914400" y="4233672"/>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Unexpected attachments you weren’t expecting to receive</a:t>
            </a:r>
            <a:endParaRPr lang="en-US" sz="1250" dirty="0"/>
          </a:p>
        </p:txBody>
      </p:sp>
      <p:pic>
        <p:nvPicPr>
          <p:cNvPr id="19" name="Image 7" descr="icons/warning_red.png">    </p:cNvPr>
          <p:cNvPicPr>
            <a:picLocks noChangeAspect="1"/>
          </p:cNvPicPr>
          <p:nvPr/>
        </p:nvPicPr>
        <p:blipFill>
          <a:blip r:embed="rId8"/>
          <a:stretch>
            <a:fillRect/>
          </a:stretch>
        </p:blipFill>
        <p:spPr>
          <a:xfrm>
            <a:off x="548640" y="4882896"/>
            <a:ext cx="237744" cy="237744"/>
          </a:xfrm>
          <a:prstGeom prst="rect">
            <a:avLst/>
          </a:prstGeom>
        </p:spPr>
      </p:pic>
      <p:sp>
        <p:nvSpPr>
          <p:cNvPr id="20" name="Text 10"/>
          <p:cNvSpPr/>
          <p:nvPr/>
        </p:nvSpPr>
        <p:spPr>
          <a:xfrm>
            <a:off x="914400" y="4800600"/>
            <a:ext cx="5440680" cy="457200"/>
          </a:xfrm>
          <a:prstGeom prst="rect">
            <a:avLst/>
          </a:prstGeom>
          <a:noFill/>
          <a:ln/>
        </p:spPr>
        <p:txBody>
          <a:bodyPr wrap="square" lIns="0" tIns="0" rIns="0" bIns="0" rtlCol="0" anchor="t"/>
          <a:lstStyle/>
          <a:p>
            <a:pPr indent="0" marL="0">
              <a:lnSpc>
                <a:spcPct val="105000"/>
              </a:lnSpc>
              <a:buNone/>
            </a:pPr>
            <a:r>
              <a:rPr lang="en-US" sz="1250" dirty="0">
                <a:solidFill>
                  <a:srgbClr val="14213D"/>
                </a:solidFill>
                <a:latin typeface="Calibri" pitchFamily="34" charset="0"/>
                <a:ea typeface="Calibri" pitchFamily="34" charset="-122"/>
                <a:cs typeface="Calibri" pitchFamily="34" charset="-120"/>
              </a:rPr>
              <a:t>Requests for passwords, OTPs, or card details by email</a:t>
            </a:r>
            <a:endParaRPr lang="en-US" sz="1250" dirty="0"/>
          </a:p>
        </p:txBody>
      </p:sp>
      <p:sp>
        <p:nvSpPr>
          <p:cNvPr id="21" name="Shape 11"/>
          <p:cNvSpPr/>
          <p:nvPr/>
        </p:nvSpPr>
        <p:spPr>
          <a:xfrm>
            <a:off x="6400800" y="1188720"/>
            <a:ext cx="5257800" cy="5074920"/>
          </a:xfrm>
          <a:prstGeom prst="roundRect">
            <a:avLst>
              <a:gd name="adj" fmla="val 1441"/>
            </a:avLst>
          </a:prstGeom>
          <a:solidFill>
            <a:srgbClr val="FFFFFF"/>
          </a:solidFill>
          <a:ln/>
          <a:effectLst>
            <a:outerShdw sx="100000" sy="100000" kx="0" ky="0" algn="bl" rotWithShape="0" blurRad="101600" dist="38100" dir="5400000">
              <a:srgbClr val="000000">
                <a:alpha val="12000"/>
              </a:srgbClr>
            </a:outerShdw>
          </a:effectLst>
        </p:spPr>
      </p:sp>
      <p:sp>
        <p:nvSpPr>
          <p:cNvPr id="22" name="Shape 12"/>
          <p:cNvSpPr/>
          <p:nvPr/>
        </p:nvSpPr>
        <p:spPr>
          <a:xfrm>
            <a:off x="6400800" y="1188720"/>
            <a:ext cx="5257800" cy="5074920"/>
          </a:xfrm>
          <a:prstGeom prst="rect">
            <a:avLst/>
          </a:prstGeom>
          <a:ln w="12700">
            <a:solidFill>
              <a:srgbClr val="D7E0EE"/>
            </a:solidFill>
            <a:prstDash val="solid"/>
          </a:ln>
        </p:spPr>
      </p:sp>
      <p:sp>
        <p:nvSpPr>
          <p:cNvPr id="23" name="Shape 13"/>
          <p:cNvSpPr/>
          <p:nvPr/>
        </p:nvSpPr>
        <p:spPr>
          <a:xfrm>
            <a:off x="6400800" y="1188720"/>
            <a:ext cx="5257800" cy="365760"/>
          </a:xfrm>
          <a:prstGeom prst="rect">
            <a:avLst/>
          </a:prstGeom>
          <a:solidFill>
            <a:srgbClr val="0B132B"/>
          </a:solidFill>
          <a:ln/>
        </p:spPr>
      </p:sp>
      <p:sp>
        <p:nvSpPr>
          <p:cNvPr id="24" name="Text 14"/>
          <p:cNvSpPr/>
          <p:nvPr/>
        </p:nvSpPr>
        <p:spPr>
          <a:xfrm>
            <a:off x="6583680" y="1188720"/>
            <a:ext cx="489204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SAMPLE PHISHING EMAIL  (Illustrative Example)</a:t>
            </a:r>
            <a:endParaRPr lang="en-US" sz="1050" dirty="0"/>
          </a:p>
        </p:txBody>
      </p:sp>
      <p:sp>
        <p:nvSpPr>
          <p:cNvPr id="25" name="Text 15"/>
          <p:cNvSpPr/>
          <p:nvPr/>
        </p:nvSpPr>
        <p:spPr>
          <a:xfrm>
            <a:off x="6583680" y="1691640"/>
            <a:ext cx="4892040" cy="274320"/>
          </a:xfrm>
          <a:prstGeom prst="rect">
            <a:avLst/>
          </a:prstGeom>
          <a:noFill/>
          <a:ln/>
        </p:spPr>
        <p:txBody>
          <a:bodyPr wrap="square" lIns="0" tIns="0" rIns="0" bIns="0" rtlCol="0" anchor="ctr"/>
          <a:lstStyle/>
          <a:p>
            <a:pPr indent="0" marL="0">
              <a:buNone/>
            </a:pPr>
            <a:r>
              <a:rPr lang="en-US" sz="1100" b="1" dirty="0">
                <a:solidFill>
                  <a:srgbClr val="0B132B"/>
                </a:solidFill>
                <a:latin typeface="Calibri" pitchFamily="34" charset="0"/>
                <a:ea typeface="Calibri" pitchFamily="34" charset="-122"/>
                <a:cs typeface="Calibri" pitchFamily="34" charset="-120"/>
              </a:rPr>
              <a:t>From: </a:t>
            </a:r>
            <a:pPr indent="0" marL="0">
              <a:buNone/>
            </a:pPr>
            <a:r>
              <a:rPr lang="en-US" sz="1100" b="1" dirty="0">
                <a:solidFill>
                  <a:srgbClr val="E63946"/>
                </a:solidFill>
                <a:latin typeface="Calibri" pitchFamily="34" charset="0"/>
                <a:ea typeface="Calibri" pitchFamily="34" charset="-122"/>
                <a:cs typeface="Calibri" pitchFamily="34" charset="-120"/>
              </a:rPr>
              <a:t>SecureBank Support &lt;support@securebank-alerts.com&gt;</a:t>
            </a:r>
            <a:pPr indent="0" marL="0">
              <a:buNone/>
            </a:pPr>
            <a:r>
              <a:rPr lang="en-US" sz="1100" b="1" dirty="0">
                <a:solidFill>
                  <a:srgbClr val="E63946"/>
                </a:solidFill>
                <a:latin typeface="Calibri" pitchFamily="34" charset="0"/>
                <a:ea typeface="Calibri" pitchFamily="34" charset="-122"/>
                <a:cs typeface="Calibri" pitchFamily="34" charset="-120"/>
              </a:rPr>
              <a:t>  ①</a:t>
            </a:r>
            <a:endParaRPr lang="en-US" sz="1100" dirty="0"/>
          </a:p>
        </p:txBody>
      </p:sp>
      <p:sp>
        <p:nvSpPr>
          <p:cNvPr id="26" name="Text 16"/>
          <p:cNvSpPr/>
          <p:nvPr/>
        </p:nvSpPr>
        <p:spPr>
          <a:xfrm>
            <a:off x="6583680" y="1993392"/>
            <a:ext cx="4892040" cy="274320"/>
          </a:xfrm>
          <a:prstGeom prst="rect">
            <a:avLst/>
          </a:prstGeom>
          <a:noFill/>
          <a:ln/>
        </p:spPr>
        <p:txBody>
          <a:bodyPr wrap="square" lIns="0" tIns="0" rIns="0" bIns="0" rtlCol="0" anchor="ctr"/>
          <a:lstStyle/>
          <a:p>
            <a:pPr indent="0" marL="0">
              <a:buNone/>
            </a:pPr>
            <a:r>
              <a:rPr lang="en-US" sz="1100" b="1" dirty="0">
                <a:solidFill>
                  <a:srgbClr val="0B132B"/>
                </a:solidFill>
                <a:latin typeface="Calibri" pitchFamily="34" charset="0"/>
                <a:ea typeface="Calibri" pitchFamily="34" charset="-122"/>
                <a:cs typeface="Calibri" pitchFamily="34" charset="-120"/>
              </a:rPr>
              <a:t>Subject: </a:t>
            </a:r>
            <a:pPr indent="0" marL="0">
              <a:buNone/>
            </a:pPr>
            <a:r>
              <a:rPr lang="en-US" sz="1100" dirty="0">
                <a:solidFill>
                  <a:srgbClr val="14213D"/>
                </a:solidFill>
                <a:latin typeface="Calibri" pitchFamily="34" charset="0"/>
                <a:ea typeface="Calibri" pitchFamily="34" charset="-122"/>
                <a:cs typeface="Calibri" pitchFamily="34" charset="-120"/>
              </a:rPr>
              <a:t>Urgent: Your Account Has Been Locked</a:t>
            </a:r>
            <a:pPr indent="0" marL="0">
              <a:buNone/>
            </a:pPr>
            <a:r>
              <a:rPr lang="en-US" sz="1100" b="1" dirty="0">
                <a:solidFill>
                  <a:srgbClr val="E63946"/>
                </a:solidFill>
                <a:latin typeface="Calibri" pitchFamily="34" charset="0"/>
                <a:ea typeface="Calibri" pitchFamily="34" charset="-122"/>
                <a:cs typeface="Calibri" pitchFamily="34" charset="-120"/>
              </a:rPr>
              <a:t>  ③</a:t>
            </a:r>
            <a:endParaRPr lang="en-US" sz="1100" dirty="0"/>
          </a:p>
        </p:txBody>
      </p:sp>
      <p:sp>
        <p:nvSpPr>
          <p:cNvPr id="27" name="Shape 17"/>
          <p:cNvSpPr/>
          <p:nvPr/>
        </p:nvSpPr>
        <p:spPr>
          <a:xfrm>
            <a:off x="6583680" y="2331720"/>
            <a:ext cx="4892040" cy="9144"/>
          </a:xfrm>
          <a:prstGeom prst="rect">
            <a:avLst/>
          </a:prstGeom>
          <a:solidFill>
            <a:srgbClr val="D7E0EE"/>
          </a:solidFill>
          <a:ln/>
        </p:spPr>
      </p:sp>
      <p:sp>
        <p:nvSpPr>
          <p:cNvPr id="28" name="Text 18"/>
          <p:cNvSpPr/>
          <p:nvPr/>
        </p:nvSpPr>
        <p:spPr>
          <a:xfrm>
            <a:off x="6583680" y="2468880"/>
            <a:ext cx="4892040" cy="1463040"/>
          </a:xfrm>
          <a:prstGeom prst="rect">
            <a:avLst/>
          </a:prstGeom>
          <a:noFill/>
          <a:ln/>
        </p:spPr>
        <p:txBody>
          <a:bodyPr wrap="square" lIns="0" tIns="0" rIns="0" bIns="0" rtlCol="0" anchor="ctr"/>
          <a:lstStyle/>
          <a:p>
            <a:pPr indent="0" marL="0">
              <a:lnSpc>
                <a:spcPct val="118000"/>
              </a:lnSpc>
              <a:buNone/>
            </a:pPr>
            <a:r>
              <a:rPr lang="en-US" sz="1100" b="1" dirty="0">
                <a:solidFill>
                  <a:srgbClr val="E63946"/>
                </a:solidFill>
                <a:latin typeface="Calibri" pitchFamily="34" charset="0"/>
                <a:ea typeface="Calibri" pitchFamily="34" charset="-122"/>
                <a:cs typeface="Calibri" pitchFamily="34" charset="-120"/>
              </a:rPr>
              <a:t>Dear Valued Customer,</a:t>
            </a:r>
            <a:endParaRPr lang="en-US" sz="1100" dirty="0"/>
          </a:p>
          <a:p>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 </a:t>
            </a:r>
            <a:endParaRPr lang="en-US" sz="1100" dirty="0"/>
          </a:p>
          <a:p>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②</a:t>
            </a:r>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  We detected unusual activity on your account. Access has been </a:t>
            </a:r>
            <a:pPr indent="0" marL="0">
              <a:lnSpc>
                <a:spcPct val="118000"/>
              </a:lnSpc>
              <a:buNone/>
            </a:pPr>
            <a:r>
              <a:rPr lang="en-US" sz="1100" b="1" dirty="0">
                <a:solidFill>
                  <a:srgbClr val="14213D"/>
                </a:solidFill>
                <a:latin typeface="Calibri" pitchFamily="34" charset="0"/>
                <a:ea typeface="Calibri" pitchFamily="34" charset="-122"/>
                <a:cs typeface="Calibri" pitchFamily="34" charset="-120"/>
              </a:rPr>
              <a:t>temporarily suspended</a:t>
            </a:r>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 for your protection.</a:t>
            </a:r>
            <a:endParaRPr lang="en-US" sz="1100" dirty="0"/>
          </a:p>
          <a:p>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 </a:t>
            </a:r>
            <a:endParaRPr lang="en-US" sz="1100" dirty="0"/>
          </a:p>
          <a:p>
            <a:pPr indent="0" marL="0">
              <a:lnSpc>
                <a:spcPct val="118000"/>
              </a:lnSpc>
              <a:buNone/>
            </a:pPr>
            <a:r>
              <a:rPr lang="en-US" sz="1100" dirty="0">
                <a:solidFill>
                  <a:srgbClr val="14213D"/>
                </a:solidFill>
                <a:latin typeface="Calibri" pitchFamily="34" charset="0"/>
                <a:ea typeface="Calibri" pitchFamily="34" charset="-122"/>
                <a:cs typeface="Calibri" pitchFamily="34" charset="-120"/>
              </a:rPr>
              <a:t>Please verify your identity immediately. Failure to respond within </a:t>
            </a:r>
            <a:pPr indent="0" marL="0">
              <a:lnSpc>
                <a:spcPct val="118000"/>
              </a:lnSpc>
              <a:buNone/>
            </a:pPr>
            <a:r>
              <a:rPr lang="en-US" sz="1100" b="1" dirty="0">
                <a:solidFill>
                  <a:srgbClr val="E63946"/>
                </a:solidFill>
                <a:latin typeface="Calibri" pitchFamily="34" charset="0"/>
                <a:ea typeface="Calibri" pitchFamily="34" charset="-122"/>
                <a:cs typeface="Calibri" pitchFamily="34" charset="-120"/>
              </a:rPr>
              <a:t>24 hours</a:t>
            </a:r>
            <a:pPr indent="0" marL="0">
              <a:lnSpc>
                <a:spcPct val="118000"/>
              </a:lnSpc>
              <a:buNone/>
            </a:pPr>
            <a:r>
              <a:rPr lang="en-US" sz="1100" dirty="0">
                <a:solidFill>
                  <a:srgbClr val="E63946"/>
                </a:solidFill>
                <a:latin typeface="Calibri" pitchFamily="34" charset="0"/>
                <a:ea typeface="Calibri" pitchFamily="34" charset="-122"/>
                <a:cs typeface="Calibri" pitchFamily="34" charset="-120"/>
              </a:rPr>
              <a:t> will result in permanent closure of your account.  ④</a:t>
            </a:r>
            <a:endParaRPr lang="en-US" sz="1100" dirty="0"/>
          </a:p>
        </p:txBody>
      </p:sp>
      <p:sp>
        <p:nvSpPr>
          <p:cNvPr id="29" name="Shape 19"/>
          <p:cNvSpPr/>
          <p:nvPr/>
        </p:nvSpPr>
        <p:spPr>
          <a:xfrm>
            <a:off x="6583680" y="3977640"/>
            <a:ext cx="4892040" cy="411480"/>
          </a:xfrm>
          <a:prstGeom prst="roundRect">
            <a:avLst>
              <a:gd name="adj" fmla="val 17778"/>
            </a:avLst>
          </a:prstGeom>
          <a:solidFill>
            <a:srgbClr val="E63946"/>
          </a:solidFill>
          <a:ln/>
        </p:spPr>
      </p:sp>
      <p:sp>
        <p:nvSpPr>
          <p:cNvPr id="30" name="Text 20"/>
          <p:cNvSpPr/>
          <p:nvPr/>
        </p:nvSpPr>
        <p:spPr>
          <a:xfrm>
            <a:off x="6583680" y="3977640"/>
            <a:ext cx="4892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Verify My Account Now    ⑤</a:t>
            </a:r>
            <a:endParaRPr lang="en-US" sz="1200" dirty="0"/>
          </a:p>
        </p:txBody>
      </p:sp>
      <p:sp>
        <p:nvSpPr>
          <p:cNvPr id="31" name="Text 21"/>
          <p:cNvSpPr/>
          <p:nvPr/>
        </p:nvSpPr>
        <p:spPr>
          <a:xfrm>
            <a:off x="6583680" y="4526280"/>
            <a:ext cx="4892040" cy="457200"/>
          </a:xfrm>
          <a:prstGeom prst="rect">
            <a:avLst/>
          </a:prstGeom>
          <a:noFill/>
          <a:ln/>
        </p:spPr>
        <p:txBody>
          <a:bodyPr wrap="square" lIns="0" tIns="0" rIns="0" bIns="0" rtlCol="0" anchor="ctr"/>
          <a:lstStyle/>
          <a:p>
            <a:pPr indent="0" marL="0">
              <a:buNone/>
            </a:pPr>
            <a:r>
              <a:rPr lang="en-US" sz="1050" i="1" dirty="0">
                <a:solidFill>
                  <a:srgbClr val="5C6B82"/>
                </a:solidFill>
                <a:latin typeface="Calibri" pitchFamily="34" charset="0"/>
                <a:ea typeface="Calibri" pitchFamily="34" charset="-122"/>
                <a:cs typeface="Calibri" pitchFamily="34" charset="-120"/>
              </a:rPr>
              <a:t>Thank you,</a:t>
            </a:r>
            <a:endParaRPr lang="en-US" sz="1050" dirty="0"/>
          </a:p>
          <a:p>
            <a:pPr indent="0" marL="0">
              <a:buNone/>
            </a:pPr>
            <a:r>
              <a:rPr lang="en-US" sz="1050" i="1" dirty="0">
                <a:solidFill>
                  <a:srgbClr val="5C6B82"/>
                </a:solidFill>
                <a:latin typeface="Calibri" pitchFamily="34" charset="0"/>
                <a:ea typeface="Calibri" pitchFamily="34" charset="-122"/>
                <a:cs typeface="Calibri" pitchFamily="34" charset="-120"/>
              </a:rPr>
              <a:t>SecureBank Security Team</a:t>
            </a:r>
            <a:endParaRPr lang="en-US" sz="1050" dirty="0"/>
          </a:p>
        </p:txBody>
      </p:sp>
      <p:sp>
        <p:nvSpPr>
          <p:cNvPr id="32" name="Text 22"/>
          <p:cNvSpPr/>
          <p:nvPr/>
        </p:nvSpPr>
        <p:spPr>
          <a:xfrm>
            <a:off x="6583680" y="5029200"/>
            <a:ext cx="4892040" cy="1097280"/>
          </a:xfrm>
          <a:prstGeom prst="rect">
            <a:avLst/>
          </a:prstGeom>
          <a:noFill/>
          <a:ln/>
        </p:spPr>
        <p:txBody>
          <a:bodyPr wrap="square" lIns="0" tIns="0" rIns="0" bIns="0" rtlCol="0" anchor="ctr"/>
          <a:lstStyle/>
          <a:p>
            <a:pPr indent="0" marL="0">
              <a:lnSpc>
                <a:spcPct val="120000"/>
              </a:lnSpc>
              <a:buNone/>
            </a:pPr>
            <a:r>
              <a:rPr lang="en-US" sz="1000" dirty="0">
                <a:solidFill>
                  <a:srgbClr val="0B132B"/>
                </a:solidFill>
                <a:latin typeface="Calibri" pitchFamily="34" charset="0"/>
                <a:ea typeface="Calibri" pitchFamily="34" charset="-122"/>
                <a:cs typeface="Calibri" pitchFamily="34" charset="-120"/>
              </a:rPr>
              <a:t>① Sender domain doesn’t match the real bank   </a:t>
            </a:r>
            <a:endParaRPr lang="en-US" sz="1000" dirty="0"/>
          </a:p>
          <a:p>
            <a:pPr indent="0" marL="0">
              <a:lnSpc>
                <a:spcPct val="120000"/>
              </a:lnSpc>
              <a:buNone/>
            </a:pPr>
            <a:r>
              <a:rPr lang="en-US" sz="1000" dirty="0">
                <a:solidFill>
                  <a:srgbClr val="0B132B"/>
                </a:solidFill>
                <a:latin typeface="Calibri" pitchFamily="34" charset="0"/>
                <a:ea typeface="Calibri" pitchFamily="34" charset="-122"/>
                <a:cs typeface="Calibri" pitchFamily="34" charset="-120"/>
              </a:rPr>
              <a:t>② Generic greeting, no real name   </a:t>
            </a:r>
            <a:endParaRPr lang="en-US" sz="1000" dirty="0"/>
          </a:p>
          <a:p>
            <a:pPr indent="0" marL="0">
              <a:lnSpc>
                <a:spcPct val="120000"/>
              </a:lnSpc>
              <a:buNone/>
            </a:pPr>
            <a:r>
              <a:rPr lang="en-US" sz="1000" dirty="0">
                <a:solidFill>
                  <a:srgbClr val="0B132B"/>
                </a:solidFill>
                <a:latin typeface="Calibri" pitchFamily="34" charset="0"/>
                <a:ea typeface="Calibri" pitchFamily="34" charset="-122"/>
                <a:cs typeface="Calibri" pitchFamily="34" charset="-120"/>
              </a:rPr>
              <a:t>③④ Manufactured urgency &amp; threat   </a:t>
            </a:r>
            <a:endParaRPr lang="en-US" sz="1000" dirty="0"/>
          </a:p>
          <a:p>
            <a:pPr indent="0" marL="0">
              <a:lnSpc>
                <a:spcPct val="120000"/>
              </a:lnSpc>
              <a:buNone/>
            </a:pPr>
            <a:r>
              <a:rPr lang="en-US" sz="1000" dirty="0">
                <a:solidFill>
                  <a:srgbClr val="0B132B"/>
                </a:solidFill>
                <a:latin typeface="Calibri" pitchFamily="34" charset="0"/>
                <a:ea typeface="Calibri" pitchFamily="34" charset="-122"/>
                <a:cs typeface="Calibri" pitchFamily="34" charset="-120"/>
              </a:rPr>
              <a:t>⑤ Suspicious action button instead of a real link</a:t>
            </a:r>
            <a:endParaRPr lang="en-US" sz="1000" dirty="0"/>
          </a:p>
        </p:txBody>
      </p:sp>
      <p:sp>
        <p:nvSpPr>
          <p:cNvPr id="33" name="Text 23"/>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34" name="Text 24"/>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1FA39A"/>
          </a:solidFill>
          <a:ln/>
        </p:spPr>
      </p:sp>
      <p:pic>
        <p:nvPicPr>
          <p:cNvPr id="3" name="Image 0" descr="icons/globe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1FA39A"/>
                </a:solidFill>
                <a:latin typeface="Calibri" pitchFamily="34" charset="0"/>
                <a:ea typeface="Calibri" pitchFamily="34" charset="-122"/>
                <a:cs typeface="Calibri" pitchFamily="34" charset="-120"/>
              </a:rPr>
              <a:t>VERIFY BEFORE YOU TRUST</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Fake Website Detection</a:t>
            </a:r>
            <a:endParaRPr lang="en-US" sz="3000" dirty="0"/>
          </a:p>
        </p:txBody>
      </p:sp>
      <p:sp>
        <p:nvSpPr>
          <p:cNvPr id="6" name="Shape 3"/>
          <p:cNvSpPr/>
          <p:nvPr/>
        </p:nvSpPr>
        <p:spPr>
          <a:xfrm>
            <a:off x="548640" y="1371600"/>
            <a:ext cx="5349240" cy="2331720"/>
          </a:xfrm>
          <a:prstGeom prst="roundRect">
            <a:avLst>
              <a:gd name="adj" fmla="val 3137"/>
            </a:avLst>
          </a:prstGeom>
          <a:solidFill>
            <a:srgbClr val="FFFFFF"/>
          </a:solidFill>
          <a:ln/>
          <a:effectLst>
            <a:outerShdw sx="100000" sy="100000" kx="0" ky="0" algn="bl" rotWithShape="0" blurRad="101600" dist="38100" dir="5400000">
              <a:srgbClr val="000000">
                <a:alpha val="12000"/>
              </a:srgbClr>
            </a:outerShdw>
          </a:effectLst>
        </p:spPr>
      </p:sp>
      <p:sp>
        <p:nvSpPr>
          <p:cNvPr id="7" name="Shape 4"/>
          <p:cNvSpPr/>
          <p:nvPr/>
        </p:nvSpPr>
        <p:spPr>
          <a:xfrm>
            <a:off x="548640" y="1371600"/>
            <a:ext cx="5349240" cy="2331720"/>
          </a:xfrm>
          <a:prstGeom prst="rect">
            <a:avLst/>
          </a:prstGeom>
          <a:ln w="19050">
            <a:solidFill>
              <a:srgbClr val="1FA39A"/>
            </a:solidFill>
            <a:prstDash val="solid"/>
          </a:ln>
        </p:spPr>
      </p:sp>
      <p:pic>
        <p:nvPicPr>
          <p:cNvPr id="8" name="Image 1" descr="icons/check_teal.png">    </p:cNvPr>
          <p:cNvPicPr>
            <a:picLocks noChangeAspect="1"/>
          </p:cNvPicPr>
          <p:nvPr/>
        </p:nvPicPr>
        <p:blipFill>
          <a:blip r:embed="rId2"/>
          <a:stretch>
            <a:fillRect/>
          </a:stretch>
        </p:blipFill>
        <p:spPr>
          <a:xfrm>
            <a:off x="777240" y="1572768"/>
            <a:ext cx="365760" cy="365760"/>
          </a:xfrm>
          <a:prstGeom prst="rect">
            <a:avLst/>
          </a:prstGeom>
        </p:spPr>
      </p:pic>
      <p:sp>
        <p:nvSpPr>
          <p:cNvPr id="9" name="Text 5"/>
          <p:cNvSpPr/>
          <p:nvPr/>
        </p:nvSpPr>
        <p:spPr>
          <a:xfrm>
            <a:off x="1280160" y="1572768"/>
            <a:ext cx="4480560" cy="365760"/>
          </a:xfrm>
          <a:prstGeom prst="rect">
            <a:avLst/>
          </a:prstGeom>
          <a:noFill/>
          <a:ln/>
        </p:spPr>
        <p:txBody>
          <a:bodyPr wrap="square" lIns="0" tIns="0" rIns="0" bIns="0" rtlCol="0" anchor="ctr"/>
          <a:lstStyle/>
          <a:p>
            <a:pPr indent="0" marL="0">
              <a:buNone/>
            </a:pPr>
            <a:r>
              <a:rPr lang="en-US" sz="1300" b="1" spc="100" kern="0" dirty="0">
                <a:solidFill>
                  <a:srgbClr val="1FA39A"/>
                </a:solidFill>
                <a:latin typeface="Calibri" pitchFamily="34" charset="0"/>
                <a:ea typeface="Calibri" pitchFamily="34" charset="-122"/>
                <a:cs typeface="Calibri" pitchFamily="34" charset="-120"/>
              </a:rPr>
              <a:t>LEGITIMATE WEBSITE</a:t>
            </a:r>
            <a:endParaRPr lang="en-US" sz="1300" dirty="0"/>
          </a:p>
        </p:txBody>
      </p:sp>
      <p:sp>
        <p:nvSpPr>
          <p:cNvPr id="10" name="Shape 6"/>
          <p:cNvSpPr/>
          <p:nvPr/>
        </p:nvSpPr>
        <p:spPr>
          <a:xfrm>
            <a:off x="777240" y="2057400"/>
            <a:ext cx="4892040" cy="457200"/>
          </a:xfrm>
          <a:prstGeom prst="roundRect">
            <a:avLst>
              <a:gd name="adj" fmla="val 16000"/>
            </a:avLst>
          </a:prstGeom>
          <a:solidFill>
            <a:srgbClr val="E8EEF7"/>
          </a:solidFill>
          <a:ln/>
        </p:spPr>
      </p:sp>
      <p:sp>
        <p:nvSpPr>
          <p:cNvPr id="11" name="Text 7"/>
          <p:cNvSpPr/>
          <p:nvPr/>
        </p:nvSpPr>
        <p:spPr>
          <a:xfrm>
            <a:off x="960120" y="2057400"/>
            <a:ext cx="4526280" cy="457200"/>
          </a:xfrm>
          <a:prstGeom prst="rect">
            <a:avLst/>
          </a:prstGeom>
          <a:noFill/>
          <a:ln/>
        </p:spPr>
        <p:txBody>
          <a:bodyPr wrap="square" lIns="0" tIns="0" rIns="0" bIns="0" rtlCol="0" anchor="ctr"/>
          <a:lstStyle/>
          <a:p>
            <a:pPr indent="0" marL="0">
              <a:buNone/>
            </a:pPr>
            <a:r>
              <a:rPr lang="en-US" sz="1250" dirty="0">
                <a:solidFill>
                  <a:srgbClr val="000000"/>
                </a:solidFill>
                <a:latin typeface="Courier New" pitchFamily="34" charset="0"/>
                <a:ea typeface="Courier New" pitchFamily="34" charset="-122"/>
                <a:cs typeface="Courier New" pitchFamily="34" charset="-120"/>
              </a:rPr>
              <a:t>🔒 </a:t>
            </a:r>
            <a:pPr indent="0" marL="0">
              <a:buNone/>
            </a:pPr>
            <a:r>
              <a:rPr lang="en-US" sz="1250" b="1" dirty="0">
                <a:solidFill>
                  <a:srgbClr val="0B132B"/>
                </a:solidFill>
                <a:latin typeface="Courier New" pitchFamily="34" charset="0"/>
                <a:ea typeface="Courier New" pitchFamily="34" charset="-122"/>
                <a:cs typeface="Courier New" pitchFamily="34" charset="-120"/>
              </a:rPr>
              <a:t>https://www.securebank.com</a:t>
            </a:r>
            <a:endParaRPr lang="en-US" sz="1250" dirty="0"/>
          </a:p>
        </p:txBody>
      </p:sp>
      <p:sp>
        <p:nvSpPr>
          <p:cNvPr id="12" name="Text 8"/>
          <p:cNvSpPr/>
          <p:nvPr/>
        </p:nvSpPr>
        <p:spPr>
          <a:xfrm>
            <a:off x="777240" y="2651760"/>
            <a:ext cx="4892040" cy="10058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Correct, fully-spelled official domain name</a:t>
            </a:r>
            <a:endParaRPr lang="en-US" sz="1200" dirty="0"/>
          </a:p>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Valid HTTPS padlock and security certificate</a:t>
            </a:r>
            <a:endParaRPr lang="en-US" sz="1200" dirty="0"/>
          </a:p>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Consistent branding, working links, no pop-up demands</a:t>
            </a:r>
            <a:endParaRPr lang="en-US" sz="1200" dirty="0"/>
          </a:p>
        </p:txBody>
      </p:sp>
      <p:sp>
        <p:nvSpPr>
          <p:cNvPr id="13" name="Shape 9"/>
          <p:cNvSpPr/>
          <p:nvPr/>
        </p:nvSpPr>
        <p:spPr>
          <a:xfrm>
            <a:off x="6263640" y="1371600"/>
            <a:ext cx="5349240" cy="2331720"/>
          </a:xfrm>
          <a:prstGeom prst="roundRect">
            <a:avLst>
              <a:gd name="adj" fmla="val 3137"/>
            </a:avLst>
          </a:prstGeom>
          <a:solidFill>
            <a:srgbClr val="FFFFFF"/>
          </a:solidFill>
          <a:ln/>
          <a:effectLst>
            <a:outerShdw sx="100000" sy="100000" kx="0" ky="0" algn="bl" rotWithShape="0" blurRad="101600" dist="38100" dir="5400000">
              <a:srgbClr val="000000">
                <a:alpha val="12000"/>
              </a:srgbClr>
            </a:outerShdw>
          </a:effectLst>
        </p:spPr>
      </p:sp>
      <p:sp>
        <p:nvSpPr>
          <p:cNvPr id="14" name="Shape 10"/>
          <p:cNvSpPr/>
          <p:nvPr/>
        </p:nvSpPr>
        <p:spPr>
          <a:xfrm>
            <a:off x="6263640" y="1371600"/>
            <a:ext cx="5349240" cy="2331720"/>
          </a:xfrm>
          <a:prstGeom prst="rect">
            <a:avLst/>
          </a:prstGeom>
          <a:ln w="19050">
            <a:solidFill>
              <a:srgbClr val="E63946"/>
            </a:solidFill>
            <a:prstDash val="solid"/>
          </a:ln>
        </p:spPr>
      </p:sp>
      <p:pic>
        <p:nvPicPr>
          <p:cNvPr id="15" name="Image 2" descr="icons/times_red.png">    </p:cNvPr>
          <p:cNvPicPr>
            <a:picLocks noChangeAspect="1"/>
          </p:cNvPicPr>
          <p:nvPr/>
        </p:nvPicPr>
        <p:blipFill>
          <a:blip r:embed="rId3"/>
          <a:stretch>
            <a:fillRect/>
          </a:stretch>
        </p:blipFill>
        <p:spPr>
          <a:xfrm>
            <a:off x="6492240" y="1572768"/>
            <a:ext cx="365760" cy="365760"/>
          </a:xfrm>
          <a:prstGeom prst="rect">
            <a:avLst/>
          </a:prstGeom>
        </p:spPr>
      </p:pic>
      <p:sp>
        <p:nvSpPr>
          <p:cNvPr id="16" name="Text 11"/>
          <p:cNvSpPr/>
          <p:nvPr/>
        </p:nvSpPr>
        <p:spPr>
          <a:xfrm>
            <a:off x="6995160" y="1572768"/>
            <a:ext cx="4297680" cy="365760"/>
          </a:xfrm>
          <a:prstGeom prst="rect">
            <a:avLst/>
          </a:prstGeom>
          <a:noFill/>
          <a:ln/>
        </p:spPr>
        <p:txBody>
          <a:bodyPr wrap="square" lIns="0" tIns="0" rIns="0" bIns="0" rtlCol="0" anchor="ctr"/>
          <a:lstStyle/>
          <a:p>
            <a:pPr indent="0" marL="0">
              <a:buNone/>
            </a:pPr>
            <a:r>
              <a:rPr lang="en-US" sz="1300" b="1" spc="100" kern="0" dirty="0">
                <a:solidFill>
                  <a:srgbClr val="E63946"/>
                </a:solidFill>
                <a:latin typeface="Calibri" pitchFamily="34" charset="0"/>
                <a:ea typeface="Calibri" pitchFamily="34" charset="-122"/>
                <a:cs typeface="Calibri" pitchFamily="34" charset="-120"/>
              </a:rPr>
              <a:t>FAKE / SPOOFED WEBSITE</a:t>
            </a:r>
            <a:endParaRPr lang="en-US" sz="1300" dirty="0"/>
          </a:p>
        </p:txBody>
      </p:sp>
      <p:sp>
        <p:nvSpPr>
          <p:cNvPr id="17" name="Shape 12"/>
          <p:cNvSpPr/>
          <p:nvPr/>
        </p:nvSpPr>
        <p:spPr>
          <a:xfrm>
            <a:off x="6492240" y="2057400"/>
            <a:ext cx="4892040" cy="457200"/>
          </a:xfrm>
          <a:prstGeom prst="roundRect">
            <a:avLst>
              <a:gd name="adj" fmla="val 16000"/>
            </a:avLst>
          </a:prstGeom>
          <a:solidFill>
            <a:srgbClr val="E8EEF7"/>
          </a:solidFill>
          <a:ln/>
        </p:spPr>
      </p:sp>
      <p:sp>
        <p:nvSpPr>
          <p:cNvPr id="18" name="Text 13"/>
          <p:cNvSpPr/>
          <p:nvPr/>
        </p:nvSpPr>
        <p:spPr>
          <a:xfrm>
            <a:off x="6675120" y="2057400"/>
            <a:ext cx="4526280" cy="457200"/>
          </a:xfrm>
          <a:prstGeom prst="rect">
            <a:avLst/>
          </a:prstGeom>
          <a:noFill/>
          <a:ln/>
        </p:spPr>
        <p:txBody>
          <a:bodyPr wrap="square" lIns="0" tIns="0" rIns="0" bIns="0" rtlCol="0" anchor="ctr"/>
          <a:lstStyle/>
          <a:p>
            <a:pPr indent="0" marL="0">
              <a:buNone/>
            </a:pPr>
            <a:r>
              <a:rPr lang="en-US" sz="1250" dirty="0">
                <a:solidFill>
                  <a:srgbClr val="000000"/>
                </a:solidFill>
                <a:latin typeface="Courier New" pitchFamily="34" charset="0"/>
                <a:ea typeface="Courier New" pitchFamily="34" charset="-122"/>
                <a:cs typeface="Courier New" pitchFamily="34" charset="-120"/>
              </a:rPr>
              <a:t>⚠ </a:t>
            </a:r>
            <a:pPr indent="0" marL="0">
              <a:buNone/>
            </a:pPr>
            <a:r>
              <a:rPr lang="en-US" sz="1250" b="1" dirty="0">
                <a:solidFill>
                  <a:srgbClr val="E63946"/>
                </a:solidFill>
                <a:latin typeface="Courier New" pitchFamily="34" charset="0"/>
                <a:ea typeface="Courier New" pitchFamily="34" charset="-122"/>
                <a:cs typeface="Courier New" pitchFamily="34" charset="-120"/>
              </a:rPr>
              <a:t>http://secure-bank-login.net</a:t>
            </a:r>
            <a:endParaRPr lang="en-US" sz="1250" dirty="0"/>
          </a:p>
        </p:txBody>
      </p:sp>
      <p:sp>
        <p:nvSpPr>
          <p:cNvPr id="19" name="Text 14"/>
          <p:cNvSpPr/>
          <p:nvPr/>
        </p:nvSpPr>
        <p:spPr>
          <a:xfrm>
            <a:off x="6492240" y="2651760"/>
            <a:ext cx="4892040" cy="10058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Extra words / hyphens added to a look-alike domain</a:t>
            </a:r>
            <a:endParaRPr lang="en-US" sz="1200" dirty="0"/>
          </a:p>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No HTTPS, or a padlock with an invalid certificate</a:t>
            </a:r>
            <a:endParaRPr lang="en-US" sz="1200" dirty="0"/>
          </a:p>
          <a:p>
            <a:pPr marL="342900" indent="-342900">
              <a:lnSpc>
                <a:spcPct val="115000"/>
              </a:lnSpc>
              <a:spcAft>
                <a:spcPts val="600"/>
              </a:spcAft>
              <a:buSzPct val="100000"/>
              <a:buChar char="•"/>
            </a:pPr>
            <a:r>
              <a:rPr lang="en-US" sz="1200" dirty="0">
                <a:solidFill>
                  <a:srgbClr val="14213D"/>
                </a:solidFill>
                <a:latin typeface="Calibri" pitchFamily="34" charset="0"/>
                <a:ea typeface="Calibri" pitchFamily="34" charset="-122"/>
                <a:cs typeface="Calibri" pitchFamily="34" charset="-120"/>
              </a:rPr>
              <a:t>Poor design, urgent pop-ups demanding full card + PIN</a:t>
            </a:r>
            <a:endParaRPr lang="en-US" sz="1200" dirty="0"/>
          </a:p>
        </p:txBody>
      </p:sp>
      <p:sp>
        <p:nvSpPr>
          <p:cNvPr id="20" name="Text 15"/>
          <p:cNvSpPr/>
          <p:nvPr/>
        </p:nvSpPr>
        <p:spPr>
          <a:xfrm>
            <a:off x="548640" y="3977640"/>
            <a:ext cx="8229600" cy="320040"/>
          </a:xfrm>
          <a:prstGeom prst="rect">
            <a:avLst/>
          </a:prstGeom>
          <a:noFill/>
          <a:ln/>
        </p:spPr>
        <p:txBody>
          <a:bodyPr wrap="square" lIns="0" tIns="0" rIns="0" bIns="0" rtlCol="0" anchor="ctr"/>
          <a:lstStyle/>
          <a:p>
            <a:pPr indent="0" marL="0">
              <a:buNone/>
            </a:pPr>
            <a:r>
              <a:rPr lang="en-US" sz="1600" b="1" dirty="0">
                <a:solidFill>
                  <a:srgbClr val="0B132B"/>
                </a:solidFill>
                <a:latin typeface="Cambria" pitchFamily="34" charset="0"/>
                <a:ea typeface="Cambria" pitchFamily="34" charset="-122"/>
                <a:cs typeface="Cambria" pitchFamily="34" charset="-120"/>
              </a:rPr>
              <a:t>How to Verify a Website Before You Trust It</a:t>
            </a:r>
            <a:endParaRPr lang="en-US" sz="1600" dirty="0"/>
          </a:p>
        </p:txBody>
      </p:sp>
      <p:pic>
        <p:nvPicPr>
          <p:cNvPr id="21" name="Image 3" descr="icons/check_teal.png">    </p:cNvPr>
          <p:cNvPicPr>
            <a:picLocks noChangeAspect="1"/>
          </p:cNvPicPr>
          <p:nvPr/>
        </p:nvPicPr>
        <p:blipFill>
          <a:blip r:embed="rId4"/>
          <a:stretch>
            <a:fillRect/>
          </a:stretch>
        </p:blipFill>
        <p:spPr>
          <a:xfrm>
            <a:off x="548640" y="4453128"/>
            <a:ext cx="201168" cy="201168"/>
          </a:xfrm>
          <a:prstGeom prst="rect">
            <a:avLst/>
          </a:prstGeom>
        </p:spPr>
      </p:pic>
      <p:sp>
        <p:nvSpPr>
          <p:cNvPr id="22" name="Text 16"/>
          <p:cNvSpPr/>
          <p:nvPr/>
        </p:nvSpPr>
        <p:spPr>
          <a:xfrm>
            <a:off x="841248" y="43891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Type the address yourself rather than clicking an emailed link</a:t>
            </a:r>
            <a:endParaRPr lang="en-US" sz="1200" dirty="0"/>
          </a:p>
        </p:txBody>
      </p:sp>
      <p:pic>
        <p:nvPicPr>
          <p:cNvPr id="23" name="Image 4" descr="icons/check_teal.png">    </p:cNvPr>
          <p:cNvPicPr>
            <a:picLocks noChangeAspect="1"/>
          </p:cNvPicPr>
          <p:nvPr/>
        </p:nvPicPr>
        <p:blipFill>
          <a:blip r:embed="rId5"/>
          <a:stretch>
            <a:fillRect/>
          </a:stretch>
        </p:blipFill>
        <p:spPr>
          <a:xfrm>
            <a:off x="548640" y="4910328"/>
            <a:ext cx="201168" cy="201168"/>
          </a:xfrm>
          <a:prstGeom prst="rect">
            <a:avLst/>
          </a:prstGeom>
        </p:spPr>
      </p:pic>
      <p:sp>
        <p:nvSpPr>
          <p:cNvPr id="24" name="Text 17"/>
          <p:cNvSpPr/>
          <p:nvPr/>
        </p:nvSpPr>
        <p:spPr>
          <a:xfrm>
            <a:off x="841248" y="48463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Read the URL character-by-character — watch for swapped letters</a:t>
            </a:r>
            <a:endParaRPr lang="en-US" sz="1200" dirty="0"/>
          </a:p>
        </p:txBody>
      </p:sp>
      <p:pic>
        <p:nvPicPr>
          <p:cNvPr id="25" name="Image 5" descr="icons/check_teal.png">    </p:cNvPr>
          <p:cNvPicPr>
            <a:picLocks noChangeAspect="1"/>
          </p:cNvPicPr>
          <p:nvPr/>
        </p:nvPicPr>
        <p:blipFill>
          <a:blip r:embed="rId6"/>
          <a:stretch>
            <a:fillRect/>
          </a:stretch>
        </p:blipFill>
        <p:spPr>
          <a:xfrm>
            <a:off x="548640" y="5367528"/>
            <a:ext cx="201168" cy="201168"/>
          </a:xfrm>
          <a:prstGeom prst="rect">
            <a:avLst/>
          </a:prstGeom>
        </p:spPr>
      </p:pic>
      <p:sp>
        <p:nvSpPr>
          <p:cNvPr id="26" name="Text 18"/>
          <p:cNvSpPr/>
          <p:nvPr/>
        </p:nvSpPr>
        <p:spPr>
          <a:xfrm>
            <a:off x="841248" y="53035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Don’t rely on HTTPS alone — attackers can get certificates too</a:t>
            </a:r>
            <a:endParaRPr lang="en-US" sz="1200" dirty="0"/>
          </a:p>
        </p:txBody>
      </p:sp>
      <p:pic>
        <p:nvPicPr>
          <p:cNvPr id="27" name="Image 6" descr="icons/check_teal.png">    </p:cNvPr>
          <p:cNvPicPr>
            <a:picLocks noChangeAspect="1"/>
          </p:cNvPicPr>
          <p:nvPr/>
        </p:nvPicPr>
        <p:blipFill>
          <a:blip r:embed="rId7"/>
          <a:stretch>
            <a:fillRect/>
          </a:stretch>
        </p:blipFill>
        <p:spPr>
          <a:xfrm>
            <a:off x="6263640" y="4453128"/>
            <a:ext cx="201168" cy="201168"/>
          </a:xfrm>
          <a:prstGeom prst="rect">
            <a:avLst/>
          </a:prstGeom>
        </p:spPr>
      </p:pic>
      <p:sp>
        <p:nvSpPr>
          <p:cNvPr id="28" name="Text 19"/>
          <p:cNvSpPr/>
          <p:nvPr/>
        </p:nvSpPr>
        <p:spPr>
          <a:xfrm>
            <a:off x="6556248" y="43891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Hover over links first to preview the real destination</a:t>
            </a:r>
            <a:endParaRPr lang="en-US" sz="1200" dirty="0"/>
          </a:p>
        </p:txBody>
      </p:sp>
      <p:pic>
        <p:nvPicPr>
          <p:cNvPr id="29" name="Image 7" descr="icons/check_teal.png">    </p:cNvPr>
          <p:cNvPicPr>
            <a:picLocks noChangeAspect="1"/>
          </p:cNvPicPr>
          <p:nvPr/>
        </p:nvPicPr>
        <p:blipFill>
          <a:blip r:embed="rId8"/>
          <a:stretch>
            <a:fillRect/>
          </a:stretch>
        </p:blipFill>
        <p:spPr>
          <a:xfrm>
            <a:off x="6263640" y="4910328"/>
            <a:ext cx="201168" cy="201168"/>
          </a:xfrm>
          <a:prstGeom prst="rect">
            <a:avLst/>
          </a:prstGeom>
        </p:spPr>
      </p:pic>
      <p:sp>
        <p:nvSpPr>
          <p:cNvPr id="30" name="Text 20"/>
          <p:cNvSpPr/>
          <p:nvPr/>
        </p:nvSpPr>
        <p:spPr>
          <a:xfrm>
            <a:off x="6556248" y="48463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Check for an “About” page, contact details, and a real address</a:t>
            </a:r>
            <a:endParaRPr lang="en-US" sz="1200" dirty="0"/>
          </a:p>
        </p:txBody>
      </p:sp>
      <p:pic>
        <p:nvPicPr>
          <p:cNvPr id="31" name="Image 8" descr="icons/check_teal.png">    </p:cNvPr>
          <p:cNvPicPr>
            <a:picLocks noChangeAspect="1"/>
          </p:cNvPicPr>
          <p:nvPr/>
        </p:nvPicPr>
        <p:blipFill>
          <a:blip r:embed="rId9"/>
          <a:stretch>
            <a:fillRect/>
          </a:stretch>
        </p:blipFill>
        <p:spPr>
          <a:xfrm>
            <a:off x="6263640" y="5367528"/>
            <a:ext cx="201168" cy="201168"/>
          </a:xfrm>
          <a:prstGeom prst="rect">
            <a:avLst/>
          </a:prstGeom>
        </p:spPr>
      </p:pic>
      <p:sp>
        <p:nvSpPr>
          <p:cNvPr id="32" name="Text 21"/>
          <p:cNvSpPr/>
          <p:nvPr/>
        </p:nvSpPr>
        <p:spPr>
          <a:xfrm>
            <a:off x="6556248" y="5303520"/>
            <a:ext cx="5303520" cy="3657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Search the company name plus “scam” or “review” before paying</a:t>
            </a:r>
            <a:endParaRPr lang="en-US" sz="1200" dirty="0"/>
          </a:p>
        </p:txBody>
      </p:sp>
      <p:sp>
        <p:nvSpPr>
          <p:cNvPr id="33" name="Text 22"/>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34" name="Text 23"/>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1FA39A"/>
          </a:solidFill>
          <a:ln/>
        </p:spPr>
      </p:sp>
      <p:pic>
        <p:nvPicPr>
          <p:cNvPr id="3" name="Image 0" descr="icons/theater_white.png">    </p:cNvPr>
          <p:cNvPicPr>
            <a:picLocks noChangeAspect="1"/>
          </p:cNvPicPr>
          <p:nvPr/>
        </p:nvPicPr>
        <p:blipFill>
          <a:blip r:embed="rId1"/>
          <a:stretch>
            <a:fillRect/>
          </a:stretch>
        </p:blipFill>
        <p:spPr>
          <a:xfrm>
            <a:off x="722376" y="585216"/>
            <a:ext cx="320040" cy="32004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1FA39A"/>
                </a:solidFill>
                <a:latin typeface="Calibri" pitchFamily="34" charset="0"/>
                <a:ea typeface="Calibri" pitchFamily="34" charset="-122"/>
                <a:cs typeface="Calibri" pitchFamily="34" charset="-120"/>
              </a:rPr>
              <a:t>THE HUMAN FACTOR</a:t>
            </a:r>
            <a:endParaRPr lang="en-US" sz="1100" dirty="0"/>
          </a:p>
        </p:txBody>
      </p:sp>
      <p:sp>
        <p:nvSpPr>
          <p:cNvPr id="5" name="Text 2"/>
          <p:cNvSpPr/>
          <p:nvPr/>
        </p:nvSpPr>
        <p:spPr>
          <a:xfrm>
            <a:off x="1298448" y="603504"/>
            <a:ext cx="100584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Social Engineering Techniques</a:t>
            </a:r>
            <a:endParaRPr lang="en-US" sz="3000" dirty="0"/>
          </a:p>
        </p:txBody>
      </p:sp>
      <p:sp>
        <p:nvSpPr>
          <p:cNvPr id="6" name="Text 3"/>
          <p:cNvSpPr/>
          <p:nvPr/>
        </p:nvSpPr>
        <p:spPr>
          <a:xfrm>
            <a:off x="548640" y="1325880"/>
            <a:ext cx="11064240" cy="457200"/>
          </a:xfrm>
          <a:prstGeom prst="rect">
            <a:avLst/>
          </a:prstGeom>
          <a:noFill/>
          <a:ln/>
        </p:spPr>
        <p:txBody>
          <a:bodyPr wrap="square" lIns="0" tIns="0" rIns="0" bIns="0" rtlCol="0" anchor="ctr"/>
          <a:lstStyle/>
          <a:p>
            <a:pPr indent="0" marL="0">
              <a:buNone/>
            </a:pPr>
            <a:r>
              <a:rPr lang="en-US" sz="1350" dirty="0">
                <a:solidFill>
                  <a:srgbClr val="E8EEF7"/>
                </a:solidFill>
                <a:latin typeface="Calibri" pitchFamily="34" charset="0"/>
                <a:ea typeface="Calibri" pitchFamily="34" charset="-122"/>
                <a:cs typeface="Calibri" pitchFamily="34" charset="-120"/>
              </a:rPr>
              <a:t>Phishing succeeds by exploiting human psychology rather than technical flaws. Attackers deliberately trigger one of these reactions to override careful thinking:</a:t>
            </a:r>
            <a:endParaRPr lang="en-US" sz="1350" dirty="0"/>
          </a:p>
        </p:txBody>
      </p:sp>
      <p:sp>
        <p:nvSpPr>
          <p:cNvPr id="7" name="Shape 4"/>
          <p:cNvSpPr/>
          <p:nvPr/>
        </p:nvSpPr>
        <p:spPr>
          <a:xfrm>
            <a:off x="548640" y="1965960"/>
            <a:ext cx="3611880" cy="1828800"/>
          </a:xfrm>
          <a:prstGeom prst="roundRect">
            <a:avLst>
              <a:gd name="adj" fmla="val 4000"/>
            </a:avLst>
          </a:prstGeom>
          <a:solidFill>
            <a:srgbClr val="152642"/>
          </a:solidFill>
          <a:ln/>
        </p:spPr>
      </p:sp>
      <p:sp>
        <p:nvSpPr>
          <p:cNvPr id="8" name="Shape 5"/>
          <p:cNvSpPr/>
          <p:nvPr/>
        </p:nvSpPr>
        <p:spPr>
          <a:xfrm>
            <a:off x="731520" y="2167128"/>
            <a:ext cx="502920" cy="502920"/>
          </a:xfrm>
          <a:prstGeom prst="ellipse">
            <a:avLst/>
          </a:prstGeom>
          <a:solidFill>
            <a:srgbClr val="1FA39A"/>
          </a:solidFill>
          <a:ln/>
        </p:spPr>
      </p:sp>
      <p:pic>
        <p:nvPicPr>
          <p:cNvPr id="9" name="Image 1" descr="icons/clock_white.png">    </p:cNvPr>
          <p:cNvPicPr>
            <a:picLocks noChangeAspect="1"/>
          </p:cNvPicPr>
          <p:nvPr/>
        </p:nvPicPr>
        <p:blipFill>
          <a:blip r:embed="rId2"/>
          <a:stretch>
            <a:fillRect/>
          </a:stretch>
        </p:blipFill>
        <p:spPr>
          <a:xfrm>
            <a:off x="842162" y="2277770"/>
            <a:ext cx="281635" cy="281635"/>
          </a:xfrm>
          <a:prstGeom prst="rect">
            <a:avLst/>
          </a:prstGeom>
        </p:spPr>
      </p:pic>
      <p:sp>
        <p:nvSpPr>
          <p:cNvPr id="10" name="Text 6"/>
          <p:cNvSpPr/>
          <p:nvPr/>
        </p:nvSpPr>
        <p:spPr>
          <a:xfrm>
            <a:off x="1371600" y="21671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Urgency</a:t>
            </a:r>
            <a:endParaRPr lang="en-US" sz="1500" dirty="0"/>
          </a:p>
        </p:txBody>
      </p:sp>
      <p:sp>
        <p:nvSpPr>
          <p:cNvPr id="11" name="Text 7"/>
          <p:cNvSpPr/>
          <p:nvPr/>
        </p:nvSpPr>
        <p:spPr>
          <a:xfrm>
            <a:off x="731520" y="27706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Tight deadlines and countdowns pressure victims to act before they can think it through.</a:t>
            </a:r>
            <a:endParaRPr lang="en-US" sz="1150" dirty="0"/>
          </a:p>
        </p:txBody>
      </p:sp>
      <p:sp>
        <p:nvSpPr>
          <p:cNvPr id="12" name="Shape 8"/>
          <p:cNvSpPr/>
          <p:nvPr/>
        </p:nvSpPr>
        <p:spPr>
          <a:xfrm>
            <a:off x="4325112" y="1965960"/>
            <a:ext cx="3611880" cy="1828800"/>
          </a:xfrm>
          <a:prstGeom prst="roundRect">
            <a:avLst>
              <a:gd name="adj" fmla="val 4000"/>
            </a:avLst>
          </a:prstGeom>
          <a:solidFill>
            <a:srgbClr val="152642"/>
          </a:solidFill>
          <a:ln/>
        </p:spPr>
      </p:sp>
      <p:sp>
        <p:nvSpPr>
          <p:cNvPr id="13" name="Shape 9"/>
          <p:cNvSpPr/>
          <p:nvPr/>
        </p:nvSpPr>
        <p:spPr>
          <a:xfrm>
            <a:off x="4507992" y="2167128"/>
            <a:ext cx="502920" cy="502920"/>
          </a:xfrm>
          <a:prstGeom prst="ellipse">
            <a:avLst/>
          </a:prstGeom>
          <a:solidFill>
            <a:srgbClr val="1FA39A"/>
          </a:solidFill>
          <a:ln/>
        </p:spPr>
      </p:sp>
      <p:pic>
        <p:nvPicPr>
          <p:cNvPr id="14" name="Image 2" descr="icons/usertie_white.png">    </p:cNvPr>
          <p:cNvPicPr>
            <a:picLocks noChangeAspect="1"/>
          </p:cNvPicPr>
          <p:nvPr/>
        </p:nvPicPr>
        <p:blipFill>
          <a:blip r:embed="rId3"/>
          <a:stretch>
            <a:fillRect/>
          </a:stretch>
        </p:blipFill>
        <p:spPr>
          <a:xfrm>
            <a:off x="4618634" y="2277770"/>
            <a:ext cx="281635" cy="281635"/>
          </a:xfrm>
          <a:prstGeom prst="rect">
            <a:avLst/>
          </a:prstGeom>
        </p:spPr>
      </p:pic>
      <p:sp>
        <p:nvSpPr>
          <p:cNvPr id="15" name="Text 10"/>
          <p:cNvSpPr/>
          <p:nvPr/>
        </p:nvSpPr>
        <p:spPr>
          <a:xfrm>
            <a:off x="5148072" y="21671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Authority</a:t>
            </a:r>
            <a:endParaRPr lang="en-US" sz="1500" dirty="0"/>
          </a:p>
        </p:txBody>
      </p:sp>
      <p:sp>
        <p:nvSpPr>
          <p:cNvPr id="16" name="Text 11"/>
          <p:cNvSpPr/>
          <p:nvPr/>
        </p:nvSpPr>
        <p:spPr>
          <a:xfrm>
            <a:off x="4507992" y="27706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Impersonating a boss, bank, or government official to make the request feel mandatory.</a:t>
            </a:r>
            <a:endParaRPr lang="en-US" sz="1150" dirty="0"/>
          </a:p>
        </p:txBody>
      </p:sp>
      <p:sp>
        <p:nvSpPr>
          <p:cNvPr id="17" name="Shape 12"/>
          <p:cNvSpPr/>
          <p:nvPr/>
        </p:nvSpPr>
        <p:spPr>
          <a:xfrm>
            <a:off x="8101584" y="1965960"/>
            <a:ext cx="3611880" cy="1828800"/>
          </a:xfrm>
          <a:prstGeom prst="roundRect">
            <a:avLst>
              <a:gd name="adj" fmla="val 4000"/>
            </a:avLst>
          </a:prstGeom>
          <a:solidFill>
            <a:srgbClr val="152642"/>
          </a:solidFill>
          <a:ln/>
        </p:spPr>
      </p:sp>
      <p:sp>
        <p:nvSpPr>
          <p:cNvPr id="18" name="Shape 13"/>
          <p:cNvSpPr/>
          <p:nvPr/>
        </p:nvSpPr>
        <p:spPr>
          <a:xfrm>
            <a:off x="8284464" y="2167128"/>
            <a:ext cx="502920" cy="502920"/>
          </a:xfrm>
          <a:prstGeom prst="ellipse">
            <a:avLst/>
          </a:prstGeom>
          <a:solidFill>
            <a:srgbClr val="1FA39A"/>
          </a:solidFill>
          <a:ln/>
        </p:spPr>
      </p:sp>
      <p:pic>
        <p:nvPicPr>
          <p:cNvPr id="19" name="Image 3" descr="icons/excircle_white.png">    </p:cNvPr>
          <p:cNvPicPr>
            <a:picLocks noChangeAspect="1"/>
          </p:cNvPicPr>
          <p:nvPr/>
        </p:nvPicPr>
        <p:blipFill>
          <a:blip r:embed="rId4"/>
          <a:stretch>
            <a:fillRect/>
          </a:stretch>
        </p:blipFill>
        <p:spPr>
          <a:xfrm>
            <a:off x="8395106" y="2277770"/>
            <a:ext cx="281635" cy="281635"/>
          </a:xfrm>
          <a:prstGeom prst="rect">
            <a:avLst/>
          </a:prstGeom>
        </p:spPr>
      </p:pic>
      <p:sp>
        <p:nvSpPr>
          <p:cNvPr id="20" name="Text 14"/>
          <p:cNvSpPr/>
          <p:nvPr/>
        </p:nvSpPr>
        <p:spPr>
          <a:xfrm>
            <a:off x="8924544" y="21671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Fear</a:t>
            </a:r>
            <a:endParaRPr lang="en-US" sz="1500" dirty="0"/>
          </a:p>
        </p:txBody>
      </p:sp>
      <p:sp>
        <p:nvSpPr>
          <p:cNvPr id="21" name="Text 15"/>
          <p:cNvSpPr/>
          <p:nvPr/>
        </p:nvSpPr>
        <p:spPr>
          <a:xfrm>
            <a:off x="8284464" y="27706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Threats of fines, legal trouble, or account loss trigger panic-driven compliance.</a:t>
            </a:r>
            <a:endParaRPr lang="en-US" sz="1150" dirty="0"/>
          </a:p>
        </p:txBody>
      </p:sp>
      <p:sp>
        <p:nvSpPr>
          <p:cNvPr id="22" name="Shape 16"/>
          <p:cNvSpPr/>
          <p:nvPr/>
        </p:nvSpPr>
        <p:spPr>
          <a:xfrm>
            <a:off x="548640" y="4023360"/>
            <a:ext cx="3611880" cy="1828800"/>
          </a:xfrm>
          <a:prstGeom prst="roundRect">
            <a:avLst>
              <a:gd name="adj" fmla="val 4000"/>
            </a:avLst>
          </a:prstGeom>
          <a:solidFill>
            <a:srgbClr val="152642"/>
          </a:solidFill>
          <a:ln/>
        </p:spPr>
      </p:sp>
      <p:sp>
        <p:nvSpPr>
          <p:cNvPr id="23" name="Shape 17"/>
          <p:cNvSpPr/>
          <p:nvPr/>
        </p:nvSpPr>
        <p:spPr>
          <a:xfrm>
            <a:off x="731520" y="4224528"/>
            <a:ext cx="502920" cy="502920"/>
          </a:xfrm>
          <a:prstGeom prst="ellipse">
            <a:avLst/>
          </a:prstGeom>
          <a:solidFill>
            <a:srgbClr val="1FA39A"/>
          </a:solidFill>
          <a:ln/>
        </p:spPr>
      </p:sp>
      <p:pic>
        <p:nvPicPr>
          <p:cNvPr id="24" name="Image 4" descr="icons/lightbulb_white.png">    </p:cNvPr>
          <p:cNvPicPr>
            <a:picLocks noChangeAspect="1"/>
          </p:cNvPicPr>
          <p:nvPr/>
        </p:nvPicPr>
        <p:blipFill>
          <a:blip r:embed="rId5"/>
          <a:stretch>
            <a:fillRect/>
          </a:stretch>
        </p:blipFill>
        <p:spPr>
          <a:xfrm>
            <a:off x="842162" y="4335170"/>
            <a:ext cx="281635" cy="281635"/>
          </a:xfrm>
          <a:prstGeom prst="rect">
            <a:avLst/>
          </a:prstGeom>
        </p:spPr>
      </p:pic>
      <p:sp>
        <p:nvSpPr>
          <p:cNvPr id="25" name="Text 18"/>
          <p:cNvSpPr/>
          <p:nvPr/>
        </p:nvSpPr>
        <p:spPr>
          <a:xfrm>
            <a:off x="1371600" y="42245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Curiosity</a:t>
            </a:r>
            <a:endParaRPr lang="en-US" sz="1500" dirty="0"/>
          </a:p>
        </p:txBody>
      </p:sp>
      <p:sp>
        <p:nvSpPr>
          <p:cNvPr id="26" name="Text 19"/>
          <p:cNvSpPr/>
          <p:nvPr/>
        </p:nvSpPr>
        <p:spPr>
          <a:xfrm>
            <a:off x="731520" y="48280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Enticing subject lines (“You won a prize!”) lure victims into clicking without thinking.</a:t>
            </a:r>
            <a:endParaRPr lang="en-US" sz="1150" dirty="0"/>
          </a:p>
        </p:txBody>
      </p:sp>
      <p:sp>
        <p:nvSpPr>
          <p:cNvPr id="27" name="Shape 20"/>
          <p:cNvSpPr/>
          <p:nvPr/>
        </p:nvSpPr>
        <p:spPr>
          <a:xfrm>
            <a:off x="4325112" y="4023360"/>
            <a:ext cx="3611880" cy="1828800"/>
          </a:xfrm>
          <a:prstGeom prst="roundRect">
            <a:avLst>
              <a:gd name="adj" fmla="val 4000"/>
            </a:avLst>
          </a:prstGeom>
          <a:solidFill>
            <a:srgbClr val="152642"/>
          </a:solidFill>
          <a:ln/>
        </p:spPr>
      </p:sp>
      <p:sp>
        <p:nvSpPr>
          <p:cNvPr id="28" name="Shape 21"/>
          <p:cNvSpPr/>
          <p:nvPr/>
        </p:nvSpPr>
        <p:spPr>
          <a:xfrm>
            <a:off x="4507992" y="4224528"/>
            <a:ext cx="502920" cy="502920"/>
          </a:xfrm>
          <a:prstGeom prst="ellipse">
            <a:avLst/>
          </a:prstGeom>
          <a:solidFill>
            <a:srgbClr val="1FA39A"/>
          </a:solidFill>
          <a:ln/>
        </p:spPr>
      </p:sp>
      <p:pic>
        <p:nvPicPr>
          <p:cNvPr id="29" name="Image 5" descr="icons/handshake_white.png">    </p:cNvPr>
          <p:cNvPicPr>
            <a:picLocks noChangeAspect="1"/>
          </p:cNvPicPr>
          <p:nvPr/>
        </p:nvPicPr>
        <p:blipFill>
          <a:blip r:embed="rId6"/>
          <a:stretch>
            <a:fillRect/>
          </a:stretch>
        </p:blipFill>
        <p:spPr>
          <a:xfrm>
            <a:off x="4618634" y="4335170"/>
            <a:ext cx="281635" cy="281635"/>
          </a:xfrm>
          <a:prstGeom prst="rect">
            <a:avLst/>
          </a:prstGeom>
        </p:spPr>
      </p:pic>
      <p:sp>
        <p:nvSpPr>
          <p:cNvPr id="30" name="Text 22"/>
          <p:cNvSpPr/>
          <p:nvPr/>
        </p:nvSpPr>
        <p:spPr>
          <a:xfrm>
            <a:off x="5148072" y="42245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Trust &amp; Familiarity</a:t>
            </a:r>
            <a:endParaRPr lang="en-US" sz="1500" dirty="0"/>
          </a:p>
        </p:txBody>
      </p:sp>
      <p:sp>
        <p:nvSpPr>
          <p:cNvPr id="31" name="Text 23"/>
          <p:cNvSpPr/>
          <p:nvPr/>
        </p:nvSpPr>
        <p:spPr>
          <a:xfrm>
            <a:off x="4507992" y="48280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Impersonating a known colleague, friend, or trusted brand to lower the victim’s guard.</a:t>
            </a:r>
            <a:endParaRPr lang="en-US" sz="1150" dirty="0"/>
          </a:p>
        </p:txBody>
      </p:sp>
      <p:sp>
        <p:nvSpPr>
          <p:cNvPr id="32" name="Shape 24"/>
          <p:cNvSpPr/>
          <p:nvPr/>
        </p:nvSpPr>
        <p:spPr>
          <a:xfrm>
            <a:off x="8101584" y="4023360"/>
            <a:ext cx="3611880" cy="1828800"/>
          </a:xfrm>
          <a:prstGeom prst="roundRect">
            <a:avLst>
              <a:gd name="adj" fmla="val 4000"/>
            </a:avLst>
          </a:prstGeom>
          <a:solidFill>
            <a:srgbClr val="152642"/>
          </a:solidFill>
          <a:ln/>
        </p:spPr>
      </p:sp>
      <p:sp>
        <p:nvSpPr>
          <p:cNvPr id="33" name="Shape 25"/>
          <p:cNvSpPr/>
          <p:nvPr/>
        </p:nvSpPr>
        <p:spPr>
          <a:xfrm>
            <a:off x="8284464" y="4224528"/>
            <a:ext cx="502920" cy="502920"/>
          </a:xfrm>
          <a:prstGeom prst="ellipse">
            <a:avLst/>
          </a:prstGeom>
          <a:solidFill>
            <a:srgbClr val="1FA39A"/>
          </a:solidFill>
          <a:ln/>
        </p:spPr>
      </p:sp>
      <p:pic>
        <p:nvPicPr>
          <p:cNvPr id="34" name="Image 6" descr="icons/theater_white.png">    </p:cNvPr>
          <p:cNvPicPr>
            <a:picLocks noChangeAspect="1"/>
          </p:cNvPicPr>
          <p:nvPr/>
        </p:nvPicPr>
        <p:blipFill>
          <a:blip r:embed="rId7"/>
          <a:stretch>
            <a:fillRect/>
          </a:stretch>
        </p:blipFill>
        <p:spPr>
          <a:xfrm>
            <a:off x="8395106" y="4335170"/>
            <a:ext cx="281635" cy="281635"/>
          </a:xfrm>
          <a:prstGeom prst="rect">
            <a:avLst/>
          </a:prstGeom>
        </p:spPr>
      </p:pic>
      <p:sp>
        <p:nvSpPr>
          <p:cNvPr id="35" name="Text 26"/>
          <p:cNvSpPr/>
          <p:nvPr/>
        </p:nvSpPr>
        <p:spPr>
          <a:xfrm>
            <a:off x="8924544" y="4224528"/>
            <a:ext cx="2606040"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Pretexting</a:t>
            </a:r>
            <a:endParaRPr lang="en-US" sz="1500" dirty="0"/>
          </a:p>
        </p:txBody>
      </p:sp>
      <p:sp>
        <p:nvSpPr>
          <p:cNvPr id="36" name="Text 27"/>
          <p:cNvSpPr/>
          <p:nvPr/>
        </p:nvSpPr>
        <p:spPr>
          <a:xfrm>
            <a:off x="8284464" y="4828032"/>
            <a:ext cx="3246120" cy="914400"/>
          </a:xfrm>
          <a:prstGeom prst="rect">
            <a:avLst/>
          </a:prstGeom>
          <a:noFill/>
          <a:ln/>
        </p:spPr>
        <p:txBody>
          <a:bodyPr wrap="square" lIns="0" tIns="0" rIns="0" bIns="0" rtlCol="0" anchor="ctr"/>
          <a:lstStyle/>
          <a:p>
            <a:pPr indent="0" marL="0">
              <a:lnSpc>
                <a:spcPct val="112000"/>
              </a:lnSpc>
              <a:buNone/>
            </a:pPr>
            <a:r>
              <a:rPr lang="en-US" sz="1150" dirty="0">
                <a:solidFill>
                  <a:srgbClr val="E8EEF7"/>
                </a:solidFill>
                <a:latin typeface="Calibri" pitchFamily="34" charset="0"/>
                <a:ea typeface="Calibri" pitchFamily="34" charset="-122"/>
                <a:cs typeface="Calibri" pitchFamily="34" charset="-120"/>
              </a:rPr>
              <a:t>Inventing a believable fabricated scenario (an IT ticket, an HR survey) to extract details.</a:t>
            </a:r>
            <a:endParaRPr lang="en-US" sz="1150" dirty="0"/>
          </a:p>
        </p:txBody>
      </p:sp>
      <p:sp>
        <p:nvSpPr>
          <p:cNvPr id="37" name="Text 28"/>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38" name="Text 29"/>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1FA39A"/>
          </a:solidFill>
          <a:ln/>
        </p:spPr>
      </p:sp>
      <p:pic>
        <p:nvPicPr>
          <p:cNvPr id="3" name="Image 0" descr="icons/usershield_navy.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1FA39A"/>
                </a:solidFill>
                <a:latin typeface="Calibri" pitchFamily="34" charset="0"/>
                <a:ea typeface="Calibri" pitchFamily="34" charset="-122"/>
                <a:cs typeface="Calibri" pitchFamily="34" charset="-120"/>
              </a:rPr>
              <a:t>BUILD STRONG HABITS</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Prevention Methods</a:t>
            </a:r>
            <a:endParaRPr lang="en-US" sz="3000" dirty="0"/>
          </a:p>
        </p:txBody>
      </p:sp>
      <p:sp>
        <p:nvSpPr>
          <p:cNvPr id="6" name="Shape 3"/>
          <p:cNvSpPr/>
          <p:nvPr/>
        </p:nvSpPr>
        <p:spPr>
          <a:xfrm>
            <a:off x="548640" y="1417320"/>
            <a:ext cx="5440680" cy="1161288"/>
          </a:xfrm>
          <a:prstGeom prst="roundRect">
            <a:avLst>
              <a:gd name="adj" fmla="val 6299"/>
            </a:avLst>
          </a:prstGeom>
          <a:solidFill>
            <a:srgbClr val="E8EEF7"/>
          </a:solidFill>
          <a:ln/>
        </p:spPr>
      </p:sp>
      <p:sp>
        <p:nvSpPr>
          <p:cNvPr id="7" name="Shape 4"/>
          <p:cNvSpPr/>
          <p:nvPr/>
        </p:nvSpPr>
        <p:spPr>
          <a:xfrm>
            <a:off x="713232" y="1746504"/>
            <a:ext cx="502920" cy="502920"/>
          </a:xfrm>
          <a:prstGeom prst="ellipse">
            <a:avLst/>
          </a:prstGeom>
          <a:solidFill>
            <a:srgbClr val="0B132B"/>
          </a:solidFill>
          <a:ln/>
        </p:spPr>
      </p:sp>
      <p:pic>
        <p:nvPicPr>
          <p:cNvPr id="8" name="Image 1" descr="icons/usercheck_white.png">    </p:cNvPr>
          <p:cNvPicPr>
            <a:picLocks noChangeAspect="1"/>
          </p:cNvPicPr>
          <p:nvPr/>
        </p:nvPicPr>
        <p:blipFill>
          <a:blip r:embed="rId2"/>
          <a:stretch>
            <a:fillRect/>
          </a:stretch>
        </p:blipFill>
        <p:spPr>
          <a:xfrm>
            <a:off x="823874" y="1857146"/>
            <a:ext cx="281635" cy="281635"/>
          </a:xfrm>
          <a:prstGeom prst="rect">
            <a:avLst/>
          </a:prstGeom>
        </p:spPr>
      </p:pic>
      <p:sp>
        <p:nvSpPr>
          <p:cNvPr id="9" name="Text 5"/>
          <p:cNvSpPr/>
          <p:nvPr/>
        </p:nvSpPr>
        <p:spPr>
          <a:xfrm>
            <a:off x="1353312" y="150876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Verify through official channels</a:t>
            </a:r>
            <a:endParaRPr lang="en-US" sz="1350" dirty="0"/>
          </a:p>
        </p:txBody>
      </p:sp>
      <p:sp>
        <p:nvSpPr>
          <p:cNvPr id="10" name="Text 6"/>
          <p:cNvSpPr/>
          <p:nvPr/>
        </p:nvSpPr>
        <p:spPr>
          <a:xfrm>
            <a:off x="1353312" y="182880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Call the company directly using a number from their official website — never one provided in the suspicious message.</a:t>
            </a:r>
            <a:endParaRPr lang="en-US" sz="1080" dirty="0"/>
          </a:p>
        </p:txBody>
      </p:sp>
      <p:sp>
        <p:nvSpPr>
          <p:cNvPr id="11" name="Shape 7"/>
          <p:cNvSpPr/>
          <p:nvPr/>
        </p:nvSpPr>
        <p:spPr>
          <a:xfrm>
            <a:off x="6263640" y="1417320"/>
            <a:ext cx="5440680" cy="1161288"/>
          </a:xfrm>
          <a:prstGeom prst="roundRect">
            <a:avLst>
              <a:gd name="adj" fmla="val 6299"/>
            </a:avLst>
          </a:prstGeom>
          <a:solidFill>
            <a:srgbClr val="E8EEF7"/>
          </a:solidFill>
          <a:ln/>
        </p:spPr>
      </p:sp>
      <p:sp>
        <p:nvSpPr>
          <p:cNvPr id="12" name="Shape 8"/>
          <p:cNvSpPr/>
          <p:nvPr/>
        </p:nvSpPr>
        <p:spPr>
          <a:xfrm>
            <a:off x="6428232" y="1746504"/>
            <a:ext cx="502920" cy="502920"/>
          </a:xfrm>
          <a:prstGeom prst="ellipse">
            <a:avLst/>
          </a:prstGeom>
          <a:solidFill>
            <a:srgbClr val="0B132B"/>
          </a:solidFill>
          <a:ln/>
        </p:spPr>
      </p:sp>
      <p:pic>
        <p:nvPicPr>
          <p:cNvPr id="13" name="Image 2" descr="icons/mouse_white.png">    </p:cNvPr>
          <p:cNvPicPr>
            <a:picLocks noChangeAspect="1"/>
          </p:cNvPicPr>
          <p:nvPr/>
        </p:nvPicPr>
        <p:blipFill>
          <a:blip r:embed="rId3"/>
          <a:stretch>
            <a:fillRect/>
          </a:stretch>
        </p:blipFill>
        <p:spPr>
          <a:xfrm>
            <a:off x="6538874" y="1857146"/>
            <a:ext cx="281635" cy="281635"/>
          </a:xfrm>
          <a:prstGeom prst="rect">
            <a:avLst/>
          </a:prstGeom>
        </p:spPr>
      </p:pic>
      <p:sp>
        <p:nvSpPr>
          <p:cNvPr id="14" name="Text 9"/>
          <p:cNvSpPr/>
          <p:nvPr/>
        </p:nvSpPr>
        <p:spPr>
          <a:xfrm>
            <a:off x="7068312" y="150876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Hover before you click</a:t>
            </a:r>
            <a:endParaRPr lang="en-US" sz="1350" dirty="0"/>
          </a:p>
        </p:txBody>
      </p:sp>
      <p:sp>
        <p:nvSpPr>
          <p:cNvPr id="15" name="Text 10"/>
          <p:cNvSpPr/>
          <p:nvPr/>
        </p:nvSpPr>
        <p:spPr>
          <a:xfrm>
            <a:off x="7068312" y="182880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Preview the real destination URL by hovering over a link before clicking it.</a:t>
            </a:r>
            <a:endParaRPr lang="en-US" sz="1080" dirty="0"/>
          </a:p>
        </p:txBody>
      </p:sp>
      <p:sp>
        <p:nvSpPr>
          <p:cNvPr id="16" name="Shape 11"/>
          <p:cNvSpPr/>
          <p:nvPr/>
        </p:nvSpPr>
        <p:spPr>
          <a:xfrm>
            <a:off x="548640" y="2743200"/>
            <a:ext cx="5440680" cy="1161288"/>
          </a:xfrm>
          <a:prstGeom prst="roundRect">
            <a:avLst>
              <a:gd name="adj" fmla="val 6299"/>
            </a:avLst>
          </a:prstGeom>
          <a:solidFill>
            <a:srgbClr val="E8EEF7"/>
          </a:solidFill>
          <a:ln/>
        </p:spPr>
      </p:sp>
      <p:sp>
        <p:nvSpPr>
          <p:cNvPr id="17" name="Shape 12"/>
          <p:cNvSpPr/>
          <p:nvPr/>
        </p:nvSpPr>
        <p:spPr>
          <a:xfrm>
            <a:off x="713232" y="3072384"/>
            <a:ext cx="502920" cy="502920"/>
          </a:xfrm>
          <a:prstGeom prst="ellipse">
            <a:avLst/>
          </a:prstGeom>
          <a:solidFill>
            <a:srgbClr val="0B132B"/>
          </a:solidFill>
          <a:ln/>
        </p:spPr>
      </p:sp>
      <p:pic>
        <p:nvPicPr>
          <p:cNvPr id="18" name="Image 3" descr="icons/key_white.png">    </p:cNvPr>
          <p:cNvPicPr>
            <a:picLocks noChangeAspect="1"/>
          </p:cNvPicPr>
          <p:nvPr/>
        </p:nvPicPr>
        <p:blipFill>
          <a:blip r:embed="rId4"/>
          <a:stretch>
            <a:fillRect/>
          </a:stretch>
        </p:blipFill>
        <p:spPr>
          <a:xfrm>
            <a:off x="823874" y="3183026"/>
            <a:ext cx="281635" cy="281635"/>
          </a:xfrm>
          <a:prstGeom prst="rect">
            <a:avLst/>
          </a:prstGeom>
        </p:spPr>
      </p:pic>
      <p:sp>
        <p:nvSpPr>
          <p:cNvPr id="19" name="Text 13"/>
          <p:cNvSpPr/>
          <p:nvPr/>
        </p:nvSpPr>
        <p:spPr>
          <a:xfrm>
            <a:off x="1353312" y="283464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Enable Multi-Factor Authentication</a:t>
            </a:r>
            <a:endParaRPr lang="en-US" sz="1350" dirty="0"/>
          </a:p>
        </p:txBody>
      </p:sp>
      <p:sp>
        <p:nvSpPr>
          <p:cNvPr id="20" name="Text 14"/>
          <p:cNvSpPr/>
          <p:nvPr/>
        </p:nvSpPr>
        <p:spPr>
          <a:xfrm>
            <a:off x="1353312" y="315468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MFA blocks attackers even if they obtain your password, by requiring a second verification step.</a:t>
            </a:r>
            <a:endParaRPr lang="en-US" sz="1080" dirty="0"/>
          </a:p>
        </p:txBody>
      </p:sp>
      <p:sp>
        <p:nvSpPr>
          <p:cNvPr id="21" name="Shape 15"/>
          <p:cNvSpPr/>
          <p:nvPr/>
        </p:nvSpPr>
        <p:spPr>
          <a:xfrm>
            <a:off x="6263640" y="2743200"/>
            <a:ext cx="5440680" cy="1161288"/>
          </a:xfrm>
          <a:prstGeom prst="roundRect">
            <a:avLst>
              <a:gd name="adj" fmla="val 6299"/>
            </a:avLst>
          </a:prstGeom>
          <a:solidFill>
            <a:srgbClr val="E8EEF7"/>
          </a:solidFill>
          <a:ln/>
        </p:spPr>
      </p:sp>
      <p:sp>
        <p:nvSpPr>
          <p:cNvPr id="22" name="Shape 16"/>
          <p:cNvSpPr/>
          <p:nvPr/>
        </p:nvSpPr>
        <p:spPr>
          <a:xfrm>
            <a:off x="6428232" y="3072384"/>
            <a:ext cx="502920" cy="502920"/>
          </a:xfrm>
          <a:prstGeom prst="ellipse">
            <a:avLst/>
          </a:prstGeom>
          <a:solidFill>
            <a:srgbClr val="0B132B"/>
          </a:solidFill>
          <a:ln/>
        </p:spPr>
      </p:sp>
      <p:pic>
        <p:nvPicPr>
          <p:cNvPr id="23" name="Image 4" descr="icons/lock_white.png">    </p:cNvPr>
          <p:cNvPicPr>
            <a:picLocks noChangeAspect="1"/>
          </p:cNvPicPr>
          <p:nvPr/>
        </p:nvPicPr>
        <p:blipFill>
          <a:blip r:embed="rId5"/>
          <a:stretch>
            <a:fillRect/>
          </a:stretch>
        </p:blipFill>
        <p:spPr>
          <a:xfrm>
            <a:off x="6538874" y="3183026"/>
            <a:ext cx="281635" cy="281635"/>
          </a:xfrm>
          <a:prstGeom prst="rect">
            <a:avLst/>
          </a:prstGeom>
        </p:spPr>
      </p:pic>
      <p:sp>
        <p:nvSpPr>
          <p:cNvPr id="24" name="Text 17"/>
          <p:cNvSpPr/>
          <p:nvPr/>
        </p:nvSpPr>
        <p:spPr>
          <a:xfrm>
            <a:off x="7068312" y="283464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Never share sensitive data by email</a:t>
            </a:r>
            <a:endParaRPr lang="en-US" sz="1350" dirty="0"/>
          </a:p>
        </p:txBody>
      </p:sp>
      <p:sp>
        <p:nvSpPr>
          <p:cNvPr id="25" name="Text 18"/>
          <p:cNvSpPr/>
          <p:nvPr/>
        </p:nvSpPr>
        <p:spPr>
          <a:xfrm>
            <a:off x="7068312" y="315468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Legitimate organizations never ask for passwords, OTPs, or full card numbers over email or text.</a:t>
            </a:r>
            <a:endParaRPr lang="en-US" sz="1080" dirty="0"/>
          </a:p>
        </p:txBody>
      </p:sp>
      <p:sp>
        <p:nvSpPr>
          <p:cNvPr id="26" name="Shape 19"/>
          <p:cNvSpPr/>
          <p:nvPr/>
        </p:nvSpPr>
        <p:spPr>
          <a:xfrm>
            <a:off x="548640" y="4069080"/>
            <a:ext cx="5440680" cy="1161288"/>
          </a:xfrm>
          <a:prstGeom prst="roundRect">
            <a:avLst>
              <a:gd name="adj" fmla="val 6299"/>
            </a:avLst>
          </a:prstGeom>
          <a:solidFill>
            <a:srgbClr val="E8EEF7"/>
          </a:solidFill>
          <a:ln/>
        </p:spPr>
      </p:sp>
      <p:sp>
        <p:nvSpPr>
          <p:cNvPr id="27" name="Shape 20"/>
          <p:cNvSpPr/>
          <p:nvPr/>
        </p:nvSpPr>
        <p:spPr>
          <a:xfrm>
            <a:off x="713232" y="4398264"/>
            <a:ext cx="502920" cy="502920"/>
          </a:xfrm>
          <a:prstGeom prst="ellipse">
            <a:avLst/>
          </a:prstGeom>
          <a:solidFill>
            <a:srgbClr val="0B132B"/>
          </a:solidFill>
          <a:ln/>
        </p:spPr>
      </p:sp>
      <p:pic>
        <p:nvPicPr>
          <p:cNvPr id="28" name="Image 5" descr="icons/sync_white.png">    </p:cNvPr>
          <p:cNvPicPr>
            <a:picLocks noChangeAspect="1"/>
          </p:cNvPicPr>
          <p:nvPr/>
        </p:nvPicPr>
        <p:blipFill>
          <a:blip r:embed="rId6"/>
          <a:stretch>
            <a:fillRect/>
          </a:stretch>
        </p:blipFill>
        <p:spPr>
          <a:xfrm>
            <a:off x="823874" y="4508906"/>
            <a:ext cx="281635" cy="281635"/>
          </a:xfrm>
          <a:prstGeom prst="rect">
            <a:avLst/>
          </a:prstGeom>
        </p:spPr>
      </p:pic>
      <p:sp>
        <p:nvSpPr>
          <p:cNvPr id="29" name="Text 21"/>
          <p:cNvSpPr/>
          <p:nvPr/>
        </p:nvSpPr>
        <p:spPr>
          <a:xfrm>
            <a:off x="1353312" y="416052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Keep software up to date</a:t>
            </a:r>
            <a:endParaRPr lang="en-US" sz="1350" dirty="0"/>
          </a:p>
        </p:txBody>
      </p:sp>
      <p:sp>
        <p:nvSpPr>
          <p:cNvPr id="30" name="Text 22"/>
          <p:cNvSpPr/>
          <p:nvPr/>
        </p:nvSpPr>
        <p:spPr>
          <a:xfrm>
            <a:off x="1353312" y="448056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Updated browsers, operating systems, and antivirus tools close security gaps attackers rely on.</a:t>
            </a:r>
            <a:endParaRPr lang="en-US" sz="1080" dirty="0"/>
          </a:p>
        </p:txBody>
      </p:sp>
      <p:sp>
        <p:nvSpPr>
          <p:cNvPr id="31" name="Shape 23"/>
          <p:cNvSpPr/>
          <p:nvPr/>
        </p:nvSpPr>
        <p:spPr>
          <a:xfrm>
            <a:off x="6263640" y="4069080"/>
            <a:ext cx="5440680" cy="1161288"/>
          </a:xfrm>
          <a:prstGeom prst="roundRect">
            <a:avLst>
              <a:gd name="adj" fmla="val 6299"/>
            </a:avLst>
          </a:prstGeom>
          <a:solidFill>
            <a:srgbClr val="E8EEF7"/>
          </a:solidFill>
          <a:ln/>
        </p:spPr>
      </p:sp>
      <p:sp>
        <p:nvSpPr>
          <p:cNvPr id="32" name="Shape 24"/>
          <p:cNvSpPr/>
          <p:nvPr/>
        </p:nvSpPr>
        <p:spPr>
          <a:xfrm>
            <a:off x="6428232" y="4398264"/>
            <a:ext cx="502920" cy="502920"/>
          </a:xfrm>
          <a:prstGeom prst="ellipse">
            <a:avLst/>
          </a:prstGeom>
          <a:solidFill>
            <a:srgbClr val="0B132B"/>
          </a:solidFill>
          <a:ln/>
        </p:spPr>
      </p:sp>
      <p:pic>
        <p:nvPicPr>
          <p:cNvPr id="33" name="Image 6" descr="icons/shield_white.png">    </p:cNvPr>
          <p:cNvPicPr>
            <a:picLocks noChangeAspect="1"/>
          </p:cNvPicPr>
          <p:nvPr/>
        </p:nvPicPr>
        <p:blipFill>
          <a:blip r:embed="rId7"/>
          <a:stretch>
            <a:fillRect/>
          </a:stretch>
        </p:blipFill>
        <p:spPr>
          <a:xfrm>
            <a:off x="6538874" y="4508906"/>
            <a:ext cx="281635" cy="281635"/>
          </a:xfrm>
          <a:prstGeom prst="rect">
            <a:avLst/>
          </a:prstGeom>
        </p:spPr>
      </p:pic>
      <p:sp>
        <p:nvSpPr>
          <p:cNvPr id="34" name="Text 25"/>
          <p:cNvSpPr/>
          <p:nvPr/>
        </p:nvSpPr>
        <p:spPr>
          <a:xfrm>
            <a:off x="7068312" y="416052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Use spam &amp; phishing filters</a:t>
            </a:r>
            <a:endParaRPr lang="en-US" sz="1350" dirty="0"/>
          </a:p>
        </p:txBody>
      </p:sp>
      <p:sp>
        <p:nvSpPr>
          <p:cNvPr id="35" name="Text 26"/>
          <p:cNvSpPr/>
          <p:nvPr/>
        </p:nvSpPr>
        <p:spPr>
          <a:xfrm>
            <a:off x="7068312" y="448056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Email security tools catch a large share of phishing attempts before they reach the inbox.</a:t>
            </a:r>
            <a:endParaRPr lang="en-US" sz="1080" dirty="0"/>
          </a:p>
        </p:txBody>
      </p:sp>
      <p:sp>
        <p:nvSpPr>
          <p:cNvPr id="36" name="Shape 27"/>
          <p:cNvSpPr/>
          <p:nvPr/>
        </p:nvSpPr>
        <p:spPr>
          <a:xfrm>
            <a:off x="548640" y="5394960"/>
            <a:ext cx="5440680" cy="1161288"/>
          </a:xfrm>
          <a:prstGeom prst="roundRect">
            <a:avLst>
              <a:gd name="adj" fmla="val 6299"/>
            </a:avLst>
          </a:prstGeom>
          <a:solidFill>
            <a:srgbClr val="E8EEF7"/>
          </a:solidFill>
          <a:ln/>
        </p:spPr>
      </p:sp>
      <p:sp>
        <p:nvSpPr>
          <p:cNvPr id="37" name="Shape 28"/>
          <p:cNvSpPr/>
          <p:nvPr/>
        </p:nvSpPr>
        <p:spPr>
          <a:xfrm>
            <a:off x="713232" y="5724144"/>
            <a:ext cx="502920" cy="502920"/>
          </a:xfrm>
          <a:prstGeom prst="ellipse">
            <a:avLst/>
          </a:prstGeom>
          <a:solidFill>
            <a:srgbClr val="0B132B"/>
          </a:solidFill>
          <a:ln/>
        </p:spPr>
      </p:sp>
      <p:pic>
        <p:nvPicPr>
          <p:cNvPr id="38" name="Image 7" descr="icons/flag_white.png">    </p:cNvPr>
          <p:cNvPicPr>
            <a:picLocks noChangeAspect="1"/>
          </p:cNvPicPr>
          <p:nvPr/>
        </p:nvPicPr>
        <p:blipFill>
          <a:blip r:embed="rId8"/>
          <a:stretch>
            <a:fillRect/>
          </a:stretch>
        </p:blipFill>
        <p:spPr>
          <a:xfrm>
            <a:off x="823874" y="5834786"/>
            <a:ext cx="281635" cy="281635"/>
          </a:xfrm>
          <a:prstGeom prst="rect">
            <a:avLst/>
          </a:prstGeom>
        </p:spPr>
      </p:pic>
      <p:sp>
        <p:nvSpPr>
          <p:cNvPr id="39" name="Text 29"/>
          <p:cNvSpPr/>
          <p:nvPr/>
        </p:nvSpPr>
        <p:spPr>
          <a:xfrm>
            <a:off x="1353312" y="548640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Report suspicious messages</a:t>
            </a:r>
            <a:endParaRPr lang="en-US" sz="1350" dirty="0"/>
          </a:p>
        </p:txBody>
      </p:sp>
      <p:sp>
        <p:nvSpPr>
          <p:cNvPr id="40" name="Text 30"/>
          <p:cNvSpPr/>
          <p:nvPr/>
        </p:nvSpPr>
        <p:spPr>
          <a:xfrm>
            <a:off x="1353312" y="580644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Reporting to IT/security teams helps protect colleagues from the same campaign.</a:t>
            </a:r>
            <a:endParaRPr lang="en-US" sz="1080" dirty="0"/>
          </a:p>
        </p:txBody>
      </p:sp>
      <p:sp>
        <p:nvSpPr>
          <p:cNvPr id="41" name="Shape 31"/>
          <p:cNvSpPr/>
          <p:nvPr/>
        </p:nvSpPr>
        <p:spPr>
          <a:xfrm>
            <a:off x="6263640" y="5394960"/>
            <a:ext cx="5440680" cy="1161288"/>
          </a:xfrm>
          <a:prstGeom prst="roundRect">
            <a:avLst>
              <a:gd name="adj" fmla="val 6299"/>
            </a:avLst>
          </a:prstGeom>
          <a:solidFill>
            <a:srgbClr val="E8EEF7"/>
          </a:solidFill>
          <a:ln/>
        </p:spPr>
      </p:sp>
      <p:sp>
        <p:nvSpPr>
          <p:cNvPr id="42" name="Shape 32"/>
          <p:cNvSpPr/>
          <p:nvPr/>
        </p:nvSpPr>
        <p:spPr>
          <a:xfrm>
            <a:off x="6428232" y="5724144"/>
            <a:ext cx="502920" cy="502920"/>
          </a:xfrm>
          <a:prstGeom prst="ellipse">
            <a:avLst/>
          </a:prstGeom>
          <a:solidFill>
            <a:srgbClr val="0B132B"/>
          </a:solidFill>
          <a:ln/>
        </p:spPr>
      </p:sp>
      <p:pic>
        <p:nvPicPr>
          <p:cNvPr id="43" name="Image 8" descr="icons/chalkboard_white.png">    </p:cNvPr>
          <p:cNvPicPr>
            <a:picLocks noChangeAspect="1"/>
          </p:cNvPicPr>
          <p:nvPr/>
        </p:nvPicPr>
        <p:blipFill>
          <a:blip r:embed="rId9"/>
          <a:stretch>
            <a:fillRect/>
          </a:stretch>
        </p:blipFill>
        <p:spPr>
          <a:xfrm>
            <a:off x="6538874" y="5834786"/>
            <a:ext cx="281635" cy="281635"/>
          </a:xfrm>
          <a:prstGeom prst="rect">
            <a:avLst/>
          </a:prstGeom>
        </p:spPr>
      </p:pic>
      <p:sp>
        <p:nvSpPr>
          <p:cNvPr id="44" name="Text 33"/>
          <p:cNvSpPr/>
          <p:nvPr/>
        </p:nvSpPr>
        <p:spPr>
          <a:xfrm>
            <a:off x="7068312" y="5486400"/>
            <a:ext cx="4480560" cy="320040"/>
          </a:xfrm>
          <a:prstGeom prst="rect">
            <a:avLst/>
          </a:prstGeom>
          <a:noFill/>
          <a:ln/>
        </p:spPr>
        <p:txBody>
          <a:bodyPr wrap="square" lIns="0" tIns="0" rIns="0" bIns="0" rtlCol="0" anchor="ctr"/>
          <a:lstStyle/>
          <a:p>
            <a:pPr indent="0" marL="0">
              <a:buNone/>
            </a:pPr>
            <a:r>
              <a:rPr lang="en-US" sz="1350" b="1" dirty="0">
                <a:solidFill>
                  <a:srgbClr val="0B132B"/>
                </a:solidFill>
                <a:latin typeface="Cambria" pitchFamily="34" charset="0"/>
                <a:ea typeface="Cambria" pitchFamily="34" charset="-122"/>
                <a:cs typeface="Cambria" pitchFamily="34" charset="-120"/>
              </a:rPr>
              <a:t>Practice with regular training</a:t>
            </a:r>
            <a:endParaRPr lang="en-US" sz="1350" dirty="0"/>
          </a:p>
        </p:txBody>
      </p:sp>
      <p:sp>
        <p:nvSpPr>
          <p:cNvPr id="45" name="Text 34"/>
          <p:cNvSpPr/>
          <p:nvPr/>
        </p:nvSpPr>
        <p:spPr>
          <a:xfrm>
            <a:off x="7068312" y="5806440"/>
            <a:ext cx="4480560" cy="704088"/>
          </a:xfrm>
          <a:prstGeom prst="rect">
            <a:avLst/>
          </a:prstGeom>
          <a:noFill/>
          <a:ln/>
        </p:spPr>
        <p:txBody>
          <a:bodyPr wrap="square" lIns="0" tIns="0" rIns="0" bIns="0" rtlCol="0" anchor="ctr"/>
          <a:lstStyle/>
          <a:p>
            <a:pPr indent="0" marL="0">
              <a:lnSpc>
                <a:spcPct val="108000"/>
              </a:lnSpc>
              <a:buNone/>
            </a:pPr>
            <a:r>
              <a:rPr lang="en-US" sz="1080" dirty="0">
                <a:solidFill>
                  <a:srgbClr val="14213D"/>
                </a:solidFill>
                <a:latin typeface="Calibri" pitchFamily="34" charset="0"/>
                <a:ea typeface="Calibri" pitchFamily="34" charset="-122"/>
                <a:cs typeface="Calibri" pitchFamily="34" charset="-120"/>
              </a:rPr>
              <a:t>Periodic phishing simulations keep awareness sharp and measure real improvement over time.</a:t>
            </a:r>
            <a:endParaRPr lang="en-US" sz="1080" dirty="0"/>
          </a:p>
        </p:txBody>
      </p:sp>
      <p:sp>
        <p:nvSpPr>
          <p:cNvPr id="46" name="Text 35"/>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47" name="Text 36"/>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3A506B"/>
          </a:solidFill>
          <a:ln/>
        </p:spPr>
      </p:sp>
      <p:pic>
        <p:nvPicPr>
          <p:cNvPr id="3" name="Image 0" descr="icons/question_white.png">    </p:cNvPr>
          <p:cNvPicPr>
            <a:picLocks noChangeAspect="1"/>
          </p:cNvPicPr>
          <p:nvPr/>
        </p:nvPicPr>
        <p:blipFill>
          <a:blip r:embed="rId1"/>
          <a:stretch>
            <a:fillRect/>
          </a:stretch>
        </p:blipFill>
        <p:spPr>
          <a:xfrm>
            <a:off x="673364" y="536204"/>
            <a:ext cx="317480" cy="317480"/>
          </a:xfrm>
          <a:prstGeom prst="rect">
            <a:avLst/>
          </a:prstGeom>
        </p:spPr>
      </p:pic>
      <p:sp>
        <p:nvSpPr>
          <p:cNvPr id="4" name="Text 1"/>
          <p:cNvSpPr/>
          <p:nvPr/>
        </p:nvSpPr>
        <p:spPr>
          <a:xfrm>
            <a:off x="1298448" y="384048"/>
            <a:ext cx="7315200" cy="256032"/>
          </a:xfrm>
          <a:prstGeom prst="rect">
            <a:avLst/>
          </a:prstGeom>
          <a:noFill/>
          <a:ln/>
        </p:spPr>
        <p:txBody>
          <a:bodyPr wrap="square" lIns="0" tIns="0" rIns="0" bIns="0" rtlCol="0" anchor="ctr"/>
          <a:lstStyle/>
          <a:p>
            <a:pPr indent="0" marL="0">
              <a:buNone/>
            </a:pPr>
            <a:r>
              <a:rPr lang="en-US" sz="1100" b="1" spc="200" kern="0" dirty="0">
                <a:solidFill>
                  <a:srgbClr val="3A506B"/>
                </a:solidFill>
                <a:latin typeface="Calibri" pitchFamily="34" charset="0"/>
                <a:ea typeface="Calibri" pitchFamily="34" charset="-122"/>
                <a:cs typeface="Calibri" pitchFamily="34" charset="-120"/>
              </a:rPr>
              <a:t>TEST YOUR KNOWLEDGE</a:t>
            </a:r>
            <a:endParaRPr lang="en-US" sz="1100" dirty="0"/>
          </a:p>
        </p:txBody>
      </p:sp>
      <p:sp>
        <p:nvSpPr>
          <p:cNvPr id="5" name="Text 2"/>
          <p:cNvSpPr/>
          <p:nvPr/>
        </p:nvSpPr>
        <p:spPr>
          <a:xfrm>
            <a:off x="1298448" y="603504"/>
            <a:ext cx="9601200" cy="502920"/>
          </a:xfrm>
          <a:prstGeom prst="rect">
            <a:avLst/>
          </a:prstGeom>
          <a:noFill/>
          <a:ln/>
        </p:spPr>
        <p:txBody>
          <a:bodyPr wrap="square" lIns="0" tIns="0" rIns="0" bIns="0" rtlCol="0" anchor="ctr"/>
          <a:lstStyle/>
          <a:p>
            <a:pPr indent="0" marL="0">
              <a:buNone/>
            </a:pPr>
            <a:r>
              <a:rPr lang="en-US" sz="3000" b="1" dirty="0">
                <a:solidFill>
                  <a:srgbClr val="0B132B"/>
                </a:solidFill>
                <a:latin typeface="Cambria" pitchFamily="34" charset="0"/>
                <a:ea typeface="Cambria" pitchFamily="34" charset="-122"/>
                <a:cs typeface="Cambria" pitchFamily="34" charset="-120"/>
              </a:rPr>
              <a:t>Interactive Quiz</a:t>
            </a:r>
            <a:endParaRPr lang="en-US" sz="3000" dirty="0"/>
          </a:p>
        </p:txBody>
      </p:sp>
      <p:sp>
        <p:nvSpPr>
          <p:cNvPr id="6" name="Text 3"/>
          <p:cNvSpPr/>
          <p:nvPr/>
        </p:nvSpPr>
        <p:spPr>
          <a:xfrm>
            <a:off x="548640" y="1188720"/>
            <a:ext cx="10789920" cy="365760"/>
          </a:xfrm>
          <a:prstGeom prst="rect">
            <a:avLst/>
          </a:prstGeom>
          <a:noFill/>
          <a:ln/>
        </p:spPr>
        <p:txBody>
          <a:bodyPr wrap="square" lIns="0" tIns="0" rIns="0" bIns="0" rtlCol="0" anchor="ctr"/>
          <a:lstStyle/>
          <a:p>
            <a:pPr indent="0" marL="0">
              <a:buNone/>
            </a:pPr>
            <a:r>
              <a:rPr lang="en-US" sz="1250" i="1" dirty="0">
                <a:solidFill>
                  <a:srgbClr val="5C6B82"/>
                </a:solidFill>
                <a:latin typeface="Calibri" pitchFamily="34" charset="0"/>
                <a:ea typeface="Calibri" pitchFamily="34" charset="-122"/>
                <a:cs typeface="Calibri" pitchFamily="34" charset="-120"/>
              </a:rPr>
              <a:t>Discuss each question as a group before revealing the answer. (Full answer key is included in the written internship report.)</a:t>
            </a:r>
            <a:endParaRPr lang="en-US" sz="1250" dirty="0"/>
          </a:p>
        </p:txBody>
      </p:sp>
      <p:sp>
        <p:nvSpPr>
          <p:cNvPr id="7" name="Shape 4"/>
          <p:cNvSpPr/>
          <p:nvPr/>
        </p:nvSpPr>
        <p:spPr>
          <a:xfrm>
            <a:off x="548640" y="1645920"/>
            <a:ext cx="544068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8" name="Shape 5"/>
          <p:cNvSpPr/>
          <p:nvPr/>
        </p:nvSpPr>
        <p:spPr>
          <a:xfrm>
            <a:off x="548640" y="1645920"/>
            <a:ext cx="5440680" cy="2103120"/>
          </a:xfrm>
          <a:prstGeom prst="rect">
            <a:avLst/>
          </a:prstGeom>
          <a:ln w="12700">
            <a:solidFill>
              <a:srgbClr val="D7E0EE"/>
            </a:solidFill>
            <a:prstDash val="solid"/>
          </a:ln>
        </p:spPr>
      </p:sp>
      <p:sp>
        <p:nvSpPr>
          <p:cNvPr id="9" name="Text 6"/>
          <p:cNvSpPr/>
          <p:nvPr/>
        </p:nvSpPr>
        <p:spPr>
          <a:xfrm>
            <a:off x="777240" y="1810512"/>
            <a:ext cx="4983480" cy="548640"/>
          </a:xfrm>
          <a:prstGeom prst="rect">
            <a:avLst/>
          </a:prstGeom>
          <a:noFill/>
          <a:ln/>
        </p:spPr>
        <p:txBody>
          <a:bodyPr wrap="square" lIns="0" tIns="0" rIns="0" bIns="0" rtlCol="0" anchor="ctr"/>
          <a:lstStyle/>
          <a:p>
            <a:pPr indent="0" marL="0">
              <a:lnSpc>
                <a:spcPct val="110000"/>
              </a:lnSpc>
              <a:buNone/>
            </a:pPr>
            <a:r>
              <a:rPr lang="en-US" sz="1400" b="1" dirty="0">
                <a:solidFill>
                  <a:srgbClr val="0B132B"/>
                </a:solidFill>
                <a:latin typeface="Cambria" pitchFamily="34" charset="0"/>
                <a:ea typeface="Cambria" pitchFamily="34" charset="-122"/>
                <a:cs typeface="Cambria" pitchFamily="34" charset="-120"/>
              </a:rPr>
              <a:t>Q1. What is the main goal of a phishing attack?</a:t>
            </a:r>
            <a:endParaRPr lang="en-US" sz="1400" dirty="0"/>
          </a:p>
        </p:txBody>
      </p:sp>
      <p:sp>
        <p:nvSpPr>
          <p:cNvPr id="10" name="Text 7"/>
          <p:cNvSpPr/>
          <p:nvPr/>
        </p:nvSpPr>
        <p:spPr>
          <a:xfrm>
            <a:off x="777240" y="2423160"/>
            <a:ext cx="4983480" cy="1188720"/>
          </a:xfrm>
          <a:prstGeom prst="rect">
            <a:avLst/>
          </a:prstGeom>
          <a:noFill/>
          <a:ln/>
        </p:spPr>
        <p:txBody>
          <a:bodyPr wrap="square" lIns="0" tIns="0" rIns="0" bIns="0" rtlCol="0" anchor="ctr"/>
          <a:lstStyle/>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A. Improve internet speed</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B. Steal sensitive personal or financial data</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C. Update software automatically</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D. Repair a damaged device</a:t>
            </a:r>
            <a:endParaRPr lang="en-US" sz="1200" dirty="0"/>
          </a:p>
        </p:txBody>
      </p:sp>
      <p:sp>
        <p:nvSpPr>
          <p:cNvPr id="11" name="Shape 8"/>
          <p:cNvSpPr/>
          <p:nvPr/>
        </p:nvSpPr>
        <p:spPr>
          <a:xfrm>
            <a:off x="6263640" y="1645920"/>
            <a:ext cx="544068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12" name="Shape 9"/>
          <p:cNvSpPr/>
          <p:nvPr/>
        </p:nvSpPr>
        <p:spPr>
          <a:xfrm>
            <a:off x="6263640" y="1645920"/>
            <a:ext cx="5440680" cy="2103120"/>
          </a:xfrm>
          <a:prstGeom prst="rect">
            <a:avLst/>
          </a:prstGeom>
          <a:ln w="12700">
            <a:solidFill>
              <a:srgbClr val="D7E0EE"/>
            </a:solidFill>
            <a:prstDash val="solid"/>
          </a:ln>
        </p:spPr>
      </p:sp>
      <p:sp>
        <p:nvSpPr>
          <p:cNvPr id="13" name="Text 10"/>
          <p:cNvSpPr/>
          <p:nvPr/>
        </p:nvSpPr>
        <p:spPr>
          <a:xfrm>
            <a:off x="6492240" y="1810512"/>
            <a:ext cx="4983480" cy="548640"/>
          </a:xfrm>
          <a:prstGeom prst="rect">
            <a:avLst/>
          </a:prstGeom>
          <a:noFill/>
          <a:ln/>
        </p:spPr>
        <p:txBody>
          <a:bodyPr wrap="square" lIns="0" tIns="0" rIns="0" bIns="0" rtlCol="0" anchor="ctr"/>
          <a:lstStyle/>
          <a:p>
            <a:pPr indent="0" marL="0">
              <a:lnSpc>
                <a:spcPct val="110000"/>
              </a:lnSpc>
              <a:buNone/>
            </a:pPr>
            <a:r>
              <a:rPr lang="en-US" sz="1400" b="1" dirty="0">
                <a:solidFill>
                  <a:srgbClr val="0B132B"/>
                </a:solidFill>
                <a:latin typeface="Cambria" pitchFamily="34" charset="0"/>
                <a:ea typeface="Cambria" pitchFamily="34" charset="-122"/>
                <a:cs typeface="Cambria" pitchFamily="34" charset="-120"/>
              </a:rPr>
              <a:t>Q2. Which of these is a common phishing email red flag?</a:t>
            </a:r>
            <a:endParaRPr lang="en-US" sz="1400" dirty="0"/>
          </a:p>
        </p:txBody>
      </p:sp>
      <p:sp>
        <p:nvSpPr>
          <p:cNvPr id="14" name="Text 11"/>
          <p:cNvSpPr/>
          <p:nvPr/>
        </p:nvSpPr>
        <p:spPr>
          <a:xfrm>
            <a:off x="6492240" y="2423160"/>
            <a:ext cx="4983480" cy="1188720"/>
          </a:xfrm>
          <a:prstGeom prst="rect">
            <a:avLst/>
          </a:prstGeom>
          <a:noFill/>
          <a:ln/>
        </p:spPr>
        <p:txBody>
          <a:bodyPr wrap="square" lIns="0" tIns="0" rIns="0" bIns="0" rtlCol="0" anchor="ctr"/>
          <a:lstStyle/>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A. Personalized greeting with your full name</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B. Urgent threats with a tight deadline</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C. A verified company domain</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D. No links or attachments at all</a:t>
            </a:r>
            <a:endParaRPr lang="en-US" sz="1200" dirty="0"/>
          </a:p>
        </p:txBody>
      </p:sp>
      <p:sp>
        <p:nvSpPr>
          <p:cNvPr id="15" name="Shape 12"/>
          <p:cNvSpPr/>
          <p:nvPr/>
        </p:nvSpPr>
        <p:spPr>
          <a:xfrm>
            <a:off x="548640" y="3931920"/>
            <a:ext cx="544068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16" name="Shape 13"/>
          <p:cNvSpPr/>
          <p:nvPr/>
        </p:nvSpPr>
        <p:spPr>
          <a:xfrm>
            <a:off x="548640" y="3931920"/>
            <a:ext cx="5440680" cy="2103120"/>
          </a:xfrm>
          <a:prstGeom prst="rect">
            <a:avLst/>
          </a:prstGeom>
          <a:ln w="12700">
            <a:solidFill>
              <a:srgbClr val="D7E0EE"/>
            </a:solidFill>
            <a:prstDash val="solid"/>
          </a:ln>
        </p:spPr>
      </p:sp>
      <p:sp>
        <p:nvSpPr>
          <p:cNvPr id="17" name="Text 14"/>
          <p:cNvSpPr/>
          <p:nvPr/>
        </p:nvSpPr>
        <p:spPr>
          <a:xfrm>
            <a:off x="777240" y="4096512"/>
            <a:ext cx="4983480" cy="548640"/>
          </a:xfrm>
          <a:prstGeom prst="rect">
            <a:avLst/>
          </a:prstGeom>
          <a:noFill/>
          <a:ln/>
        </p:spPr>
        <p:txBody>
          <a:bodyPr wrap="square" lIns="0" tIns="0" rIns="0" bIns="0" rtlCol="0" anchor="ctr"/>
          <a:lstStyle/>
          <a:p>
            <a:pPr indent="0" marL="0">
              <a:lnSpc>
                <a:spcPct val="110000"/>
              </a:lnSpc>
              <a:buNone/>
            </a:pPr>
            <a:r>
              <a:rPr lang="en-US" sz="1400" b="1" dirty="0">
                <a:solidFill>
                  <a:srgbClr val="0B132B"/>
                </a:solidFill>
                <a:latin typeface="Cambria" pitchFamily="34" charset="0"/>
                <a:ea typeface="Cambria" pitchFamily="34" charset="-122"/>
                <a:cs typeface="Cambria" pitchFamily="34" charset="-120"/>
              </a:rPr>
              <a:t>Q3. What is “smishing”?</a:t>
            </a:r>
            <a:endParaRPr lang="en-US" sz="1400" dirty="0"/>
          </a:p>
        </p:txBody>
      </p:sp>
      <p:sp>
        <p:nvSpPr>
          <p:cNvPr id="18" name="Text 15"/>
          <p:cNvSpPr/>
          <p:nvPr/>
        </p:nvSpPr>
        <p:spPr>
          <a:xfrm>
            <a:off x="777240" y="4709160"/>
            <a:ext cx="4983480" cy="1188720"/>
          </a:xfrm>
          <a:prstGeom prst="rect">
            <a:avLst/>
          </a:prstGeom>
          <a:noFill/>
          <a:ln/>
        </p:spPr>
        <p:txBody>
          <a:bodyPr wrap="square" lIns="0" tIns="0" rIns="0" bIns="0" rtlCol="0" anchor="ctr"/>
          <a:lstStyle/>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A. Phishing through social media</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B. Phishing through SMS text messages</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C. Phishing through phone calls</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D. Phishing through fax machines</a:t>
            </a:r>
            <a:endParaRPr lang="en-US" sz="1200" dirty="0"/>
          </a:p>
        </p:txBody>
      </p:sp>
      <p:sp>
        <p:nvSpPr>
          <p:cNvPr id="19" name="Shape 16"/>
          <p:cNvSpPr/>
          <p:nvPr/>
        </p:nvSpPr>
        <p:spPr>
          <a:xfrm>
            <a:off x="6263640" y="3931920"/>
            <a:ext cx="544068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20" name="Shape 17"/>
          <p:cNvSpPr/>
          <p:nvPr/>
        </p:nvSpPr>
        <p:spPr>
          <a:xfrm>
            <a:off x="6263640" y="3931920"/>
            <a:ext cx="5440680" cy="2103120"/>
          </a:xfrm>
          <a:prstGeom prst="rect">
            <a:avLst/>
          </a:prstGeom>
          <a:ln w="12700">
            <a:solidFill>
              <a:srgbClr val="D7E0EE"/>
            </a:solidFill>
            <a:prstDash val="solid"/>
          </a:ln>
        </p:spPr>
      </p:sp>
      <p:sp>
        <p:nvSpPr>
          <p:cNvPr id="21" name="Text 18"/>
          <p:cNvSpPr/>
          <p:nvPr/>
        </p:nvSpPr>
        <p:spPr>
          <a:xfrm>
            <a:off x="6492240" y="4096512"/>
            <a:ext cx="4983480" cy="548640"/>
          </a:xfrm>
          <a:prstGeom prst="rect">
            <a:avLst/>
          </a:prstGeom>
          <a:noFill/>
          <a:ln/>
        </p:spPr>
        <p:txBody>
          <a:bodyPr wrap="square" lIns="0" tIns="0" rIns="0" bIns="0" rtlCol="0" anchor="ctr"/>
          <a:lstStyle/>
          <a:p>
            <a:pPr indent="0" marL="0">
              <a:lnSpc>
                <a:spcPct val="110000"/>
              </a:lnSpc>
              <a:buNone/>
            </a:pPr>
            <a:r>
              <a:rPr lang="en-US" sz="1400" b="1" dirty="0">
                <a:solidFill>
                  <a:srgbClr val="0B132B"/>
                </a:solidFill>
                <a:latin typeface="Cambria" pitchFamily="34" charset="0"/>
                <a:ea typeface="Cambria" pitchFamily="34" charset="-122"/>
                <a:cs typeface="Cambria" pitchFamily="34" charset="-120"/>
              </a:rPr>
              <a:t>Q4. What is the single best defense if your password is ever stolen?</a:t>
            </a:r>
            <a:endParaRPr lang="en-US" sz="1400" dirty="0"/>
          </a:p>
        </p:txBody>
      </p:sp>
      <p:sp>
        <p:nvSpPr>
          <p:cNvPr id="22" name="Text 19"/>
          <p:cNvSpPr/>
          <p:nvPr/>
        </p:nvSpPr>
        <p:spPr>
          <a:xfrm>
            <a:off x="6492240" y="4709160"/>
            <a:ext cx="4983480" cy="1188720"/>
          </a:xfrm>
          <a:prstGeom prst="rect">
            <a:avLst/>
          </a:prstGeom>
          <a:noFill/>
          <a:ln/>
        </p:spPr>
        <p:txBody>
          <a:bodyPr wrap="square" lIns="0" tIns="0" rIns="0" bIns="0" rtlCol="0" anchor="ctr"/>
          <a:lstStyle/>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A. Using the same password everywhere</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B. Multi-Factor Authentication (MFA)</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C. Turning off your antivirus</a:t>
            </a:r>
            <a:endParaRPr lang="en-US" sz="1200" dirty="0"/>
          </a:p>
          <a:p>
            <a:pPr indent="0" marL="0">
              <a:lnSpc>
                <a:spcPct val="125000"/>
              </a:lnSpc>
              <a:spcAft>
                <a:spcPts val="400"/>
              </a:spcAft>
              <a:buNone/>
            </a:pPr>
            <a:r>
              <a:rPr lang="en-US" sz="1200" dirty="0">
                <a:solidFill>
                  <a:srgbClr val="14213D"/>
                </a:solidFill>
                <a:latin typeface="Calibri" pitchFamily="34" charset="0"/>
                <a:ea typeface="Calibri" pitchFamily="34" charset="-122"/>
                <a:cs typeface="Calibri" pitchFamily="34" charset="-120"/>
              </a:rPr>
              <a:t>D. Ignoring the account afterward</a:t>
            </a:r>
            <a:endParaRPr lang="en-US" sz="1200" dirty="0"/>
          </a:p>
        </p:txBody>
      </p:sp>
      <p:sp>
        <p:nvSpPr>
          <p:cNvPr id="23" name="Text 20"/>
          <p:cNvSpPr/>
          <p:nvPr/>
        </p:nvSpPr>
        <p:spPr>
          <a:xfrm>
            <a:off x="548640" y="6510528"/>
            <a:ext cx="8686800" cy="274320"/>
          </a:xfrm>
          <a:prstGeom prst="rect">
            <a:avLst/>
          </a:prstGeom>
          <a:noFill/>
          <a:ln/>
        </p:spPr>
        <p:txBody>
          <a:bodyPr wrap="square" lIns="0" tIns="0" rIns="0" bIns="0" rtlCol="0" anchor="ctr"/>
          <a:lstStyle/>
          <a:p>
            <a:pPr algn="l" indent="0" marL="0">
              <a:buNone/>
            </a:pPr>
            <a:r>
              <a:rPr lang="en-US" sz="900" dirty="0">
                <a:solidFill>
                  <a:srgbClr val="5C6B82"/>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24" name="Text 21"/>
          <p:cNvSpPr/>
          <p:nvPr/>
        </p:nvSpPr>
        <p:spPr>
          <a:xfrm>
            <a:off x="11155680" y="6510528"/>
            <a:ext cx="548640" cy="274320"/>
          </a:xfrm>
          <a:prstGeom prst="rect">
            <a:avLst/>
          </a:prstGeom>
          <a:noFill/>
          <a:ln/>
        </p:spPr>
        <p:txBody>
          <a:bodyPr wrap="square" lIns="0" tIns="0" rIns="0" bIns="0" rtlCol="0" anchor="ctr"/>
          <a:lstStyle/>
          <a:p>
            <a:pPr algn="r" indent="0" marL="0">
              <a:buNone/>
            </a:pPr>
            <a:r>
              <a:rPr lang="en-US" sz="900" dirty="0">
                <a:solidFill>
                  <a:srgbClr val="5C6B82"/>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5592928" y="640080"/>
            <a:ext cx="1005840" cy="1005840"/>
          </a:xfrm>
          <a:prstGeom prst="ellipse">
            <a:avLst/>
          </a:prstGeom>
          <a:solidFill>
            <a:srgbClr val="1FA39A"/>
          </a:solidFill>
          <a:ln/>
        </p:spPr>
      </p:sp>
      <p:pic>
        <p:nvPicPr>
          <p:cNvPr id="3" name="Image 0" descr="icons/graduation_white.png">    </p:cNvPr>
          <p:cNvPicPr>
            <a:picLocks noChangeAspect="1"/>
          </p:cNvPicPr>
          <p:nvPr/>
        </p:nvPicPr>
        <p:blipFill>
          <a:blip r:embed="rId1"/>
          <a:stretch>
            <a:fillRect/>
          </a:stretch>
        </p:blipFill>
        <p:spPr>
          <a:xfrm>
            <a:off x="5819242" y="866394"/>
            <a:ext cx="553212" cy="553212"/>
          </a:xfrm>
          <a:prstGeom prst="rect">
            <a:avLst/>
          </a:prstGeom>
        </p:spPr>
      </p:pic>
      <p:sp>
        <p:nvSpPr>
          <p:cNvPr id="4" name="Text 1"/>
          <p:cNvSpPr/>
          <p:nvPr/>
        </p:nvSpPr>
        <p:spPr>
          <a:xfrm>
            <a:off x="0" y="1828800"/>
            <a:ext cx="12191695"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Text 2"/>
          <p:cNvSpPr/>
          <p:nvPr/>
        </p:nvSpPr>
        <p:spPr>
          <a:xfrm>
            <a:off x="1645920" y="2514600"/>
            <a:ext cx="8897112" cy="548640"/>
          </a:xfrm>
          <a:prstGeom prst="rect">
            <a:avLst/>
          </a:prstGeom>
          <a:noFill/>
          <a:ln/>
        </p:spPr>
        <p:txBody>
          <a:bodyPr wrap="square" lIns="0" tIns="0" rIns="0" bIns="0" rtlCol="0" anchor="ctr"/>
          <a:lstStyle/>
          <a:p>
            <a:pPr algn="ctr" indent="0" marL="0">
              <a:buNone/>
            </a:pPr>
            <a:r>
              <a:rPr lang="en-US" sz="1450" i="1" dirty="0">
                <a:solidFill>
                  <a:srgbClr val="E8EEF7"/>
                </a:solidFill>
                <a:latin typeface="Calibri" pitchFamily="34" charset="0"/>
                <a:ea typeface="Calibri" pitchFamily="34" charset="-122"/>
                <a:cs typeface="Calibri" pitchFamily="34" charset="-120"/>
              </a:rPr>
              <a:t>Phishing remains one of the most common and effective cyberattacks — not because of weak technology, but because it targets human trust.</a:t>
            </a:r>
            <a:endParaRPr lang="en-US" sz="1450" dirty="0"/>
          </a:p>
        </p:txBody>
      </p:sp>
      <p:pic>
        <p:nvPicPr>
          <p:cNvPr id="6" name="Image 1" descr="icons/checkmark_teal.png">    </p:cNvPr>
          <p:cNvPicPr>
            <a:picLocks noChangeAspect="1"/>
          </p:cNvPicPr>
          <p:nvPr/>
        </p:nvPicPr>
        <p:blipFill>
          <a:blip r:embed="rId2"/>
          <a:stretch>
            <a:fillRect/>
          </a:stretch>
        </p:blipFill>
        <p:spPr>
          <a:xfrm>
            <a:off x="1920240" y="3273552"/>
            <a:ext cx="219456" cy="219456"/>
          </a:xfrm>
          <a:prstGeom prst="rect">
            <a:avLst/>
          </a:prstGeom>
        </p:spPr>
      </p:pic>
      <p:sp>
        <p:nvSpPr>
          <p:cNvPr id="7" name="Text 3"/>
          <p:cNvSpPr/>
          <p:nvPr/>
        </p:nvSpPr>
        <p:spPr>
          <a:xfrm>
            <a:off x="2286000" y="3191256"/>
            <a:ext cx="7955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Pause before reacting to urgent, fearful, or too-good-to-be-true messages</a:t>
            </a:r>
            <a:endParaRPr lang="en-US" sz="1350" dirty="0"/>
          </a:p>
        </p:txBody>
      </p:sp>
      <p:pic>
        <p:nvPicPr>
          <p:cNvPr id="8" name="Image 2" descr="icons/checkmark_teal.png">    </p:cNvPr>
          <p:cNvPicPr>
            <a:picLocks noChangeAspect="1"/>
          </p:cNvPicPr>
          <p:nvPr/>
        </p:nvPicPr>
        <p:blipFill>
          <a:blip r:embed="rId3"/>
          <a:stretch>
            <a:fillRect/>
          </a:stretch>
        </p:blipFill>
        <p:spPr>
          <a:xfrm>
            <a:off x="1920240" y="3730752"/>
            <a:ext cx="219456" cy="219456"/>
          </a:xfrm>
          <a:prstGeom prst="rect">
            <a:avLst/>
          </a:prstGeom>
        </p:spPr>
      </p:pic>
      <p:sp>
        <p:nvSpPr>
          <p:cNvPr id="9" name="Text 4"/>
          <p:cNvSpPr/>
          <p:nvPr/>
        </p:nvSpPr>
        <p:spPr>
          <a:xfrm>
            <a:off x="2286000" y="3648456"/>
            <a:ext cx="7955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Verify senders and URLs independently — never trust the message alone</a:t>
            </a:r>
            <a:endParaRPr lang="en-US" sz="1350" dirty="0"/>
          </a:p>
        </p:txBody>
      </p:sp>
      <p:pic>
        <p:nvPicPr>
          <p:cNvPr id="10" name="Image 3" descr="icons/checkmark_teal.png">    </p:cNvPr>
          <p:cNvPicPr>
            <a:picLocks noChangeAspect="1"/>
          </p:cNvPicPr>
          <p:nvPr/>
        </p:nvPicPr>
        <p:blipFill>
          <a:blip r:embed="rId4"/>
          <a:stretch>
            <a:fillRect/>
          </a:stretch>
        </p:blipFill>
        <p:spPr>
          <a:xfrm>
            <a:off x="1920240" y="4187952"/>
            <a:ext cx="219456" cy="219456"/>
          </a:xfrm>
          <a:prstGeom prst="rect">
            <a:avLst/>
          </a:prstGeom>
        </p:spPr>
      </p:pic>
      <p:sp>
        <p:nvSpPr>
          <p:cNvPr id="11" name="Text 5"/>
          <p:cNvSpPr/>
          <p:nvPr/>
        </p:nvSpPr>
        <p:spPr>
          <a:xfrm>
            <a:off x="2286000" y="4105656"/>
            <a:ext cx="7955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Use MFA, strong unique passwords, and updated software as your safety net</a:t>
            </a:r>
            <a:endParaRPr lang="en-US" sz="1350" dirty="0"/>
          </a:p>
        </p:txBody>
      </p:sp>
      <p:pic>
        <p:nvPicPr>
          <p:cNvPr id="12" name="Image 4" descr="icons/checkmark_teal.png">    </p:cNvPr>
          <p:cNvPicPr>
            <a:picLocks noChangeAspect="1"/>
          </p:cNvPicPr>
          <p:nvPr/>
        </p:nvPicPr>
        <p:blipFill>
          <a:blip r:embed="rId5"/>
          <a:stretch>
            <a:fillRect/>
          </a:stretch>
        </p:blipFill>
        <p:spPr>
          <a:xfrm>
            <a:off x="1920240" y="4645152"/>
            <a:ext cx="219456" cy="219456"/>
          </a:xfrm>
          <a:prstGeom prst="rect">
            <a:avLst/>
          </a:prstGeom>
        </p:spPr>
      </p:pic>
      <p:sp>
        <p:nvSpPr>
          <p:cNvPr id="13" name="Text 6"/>
          <p:cNvSpPr/>
          <p:nvPr/>
        </p:nvSpPr>
        <p:spPr>
          <a:xfrm>
            <a:off x="2286000" y="4562856"/>
            <a:ext cx="7955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Report suspicious messages — your report can protect others too</a:t>
            </a:r>
            <a:endParaRPr lang="en-US" sz="1350" dirty="0"/>
          </a:p>
        </p:txBody>
      </p:sp>
      <p:sp>
        <p:nvSpPr>
          <p:cNvPr id="14" name="Text 7"/>
          <p:cNvSpPr/>
          <p:nvPr/>
        </p:nvSpPr>
        <p:spPr>
          <a:xfrm>
            <a:off x="1645920" y="5257800"/>
            <a:ext cx="8897112" cy="457200"/>
          </a:xfrm>
          <a:prstGeom prst="rect">
            <a:avLst/>
          </a:prstGeom>
          <a:noFill/>
          <a:ln/>
        </p:spPr>
        <p:txBody>
          <a:bodyPr wrap="square" lIns="0" tIns="0" rIns="0" bIns="0" rtlCol="0" anchor="ctr"/>
          <a:lstStyle/>
          <a:p>
            <a:pPr algn="ctr" indent="0" marL="0">
              <a:buNone/>
            </a:pPr>
            <a:r>
              <a:rPr lang="en-US" sz="1600" b="1" i="1" dirty="0">
                <a:solidFill>
                  <a:srgbClr val="1FA39A"/>
                </a:solidFill>
                <a:latin typeface="Cambria" pitchFamily="34" charset="0"/>
                <a:ea typeface="Cambria" pitchFamily="34" charset="-122"/>
                <a:cs typeface="Cambria" pitchFamily="34" charset="-120"/>
              </a:rPr>
              <a:t>“Stay alert. Verify before you trust. Think before you click.”</a:t>
            </a:r>
            <a:endParaRPr lang="en-US" sz="1600" dirty="0"/>
          </a:p>
        </p:txBody>
      </p:sp>
      <p:sp>
        <p:nvSpPr>
          <p:cNvPr id="15" name="Text 8"/>
          <p:cNvSpPr/>
          <p:nvPr/>
        </p:nvSpPr>
        <p:spPr>
          <a:xfrm>
            <a:off x="0" y="6035040"/>
            <a:ext cx="12191695" cy="320040"/>
          </a:xfrm>
          <a:prstGeom prst="rect">
            <a:avLst/>
          </a:prstGeom>
          <a:noFill/>
          <a:ln/>
        </p:spPr>
        <p:txBody>
          <a:bodyPr wrap="square" lIns="0" tIns="0" rIns="0" bIns="0" rtlCol="0" anchor="ctr"/>
          <a:lstStyle/>
          <a:p>
            <a:pPr algn="ctr" indent="0" marL="0">
              <a:buNone/>
            </a:pPr>
            <a:r>
              <a:rPr lang="en-US" sz="1200" dirty="0">
                <a:solidFill>
                  <a:srgbClr val="5C6B82"/>
                </a:solidFill>
                <a:latin typeface="Calibri" pitchFamily="34" charset="0"/>
                <a:ea typeface="Calibri" pitchFamily="34" charset="-122"/>
                <a:cs typeface="Calibri" pitchFamily="34" charset="-120"/>
              </a:rPr>
              <a:t>Malaika Rizwan  |  CodeAlpha Cyber Security Internship — Task 2</a:t>
            </a:r>
            <a:endParaRPr lang="en-US" sz="1200" dirty="0"/>
          </a:p>
        </p:txBody>
      </p:sp>
      <p:sp>
        <p:nvSpPr>
          <p:cNvPr id="16" name="Text 9"/>
          <p:cNvSpPr/>
          <p:nvPr/>
        </p:nvSpPr>
        <p:spPr>
          <a:xfrm>
            <a:off x="0" y="6355080"/>
            <a:ext cx="12191695" cy="274320"/>
          </a:xfrm>
          <a:prstGeom prst="rect">
            <a:avLst/>
          </a:prstGeom>
          <a:noFill/>
          <a:ln/>
        </p:spPr>
        <p:txBody>
          <a:bodyPr wrap="square" lIns="0" tIns="0" rIns="0" bIns="0" rtlCol="0" anchor="ctr"/>
          <a:lstStyle/>
          <a:p>
            <a:pPr algn="ctr" indent="0" marL="0">
              <a:buNone/>
            </a:pPr>
            <a:r>
              <a:rPr lang="en-US" sz="1050" dirty="0">
                <a:solidFill>
                  <a:srgbClr val="3A506B"/>
                </a:solidFill>
                <a:latin typeface="Calibri" pitchFamily="34" charset="0"/>
                <a:ea typeface="Calibri" pitchFamily="34" charset="-122"/>
                <a:cs typeface="Calibri" pitchFamily="34" charset="-120"/>
              </a:rPr>
              <a:t>CodeAlpha_Phishing_Awareness_Training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CodeAlpha Cyber Security Internship - Task 2</dc:subject>
  <dc:creator>Malaika Rizwan</dc:creator>
  <cp:lastModifiedBy>Malaika Rizwan</cp:lastModifiedBy>
  <cp:revision>1</cp:revision>
  <dcterms:created xsi:type="dcterms:W3CDTF">2026-06-19T16:50:21Z</dcterms:created>
  <dcterms:modified xsi:type="dcterms:W3CDTF">2026-06-19T16:50:21Z</dcterms:modified>
</cp:coreProperties>
</file>